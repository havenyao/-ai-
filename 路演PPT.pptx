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1001"/>
    <p:sldId id="258" r:id="rId1002"/>
    <p:sldId id="259" r:id="rId1003"/>
    <p:sldId id="260" r:id="rId1004"/>
    <p:sldId id="261" r:id="rId1005"/>
    <p:sldId id="262" r:id="rId1006"/>
    <p:sldId id="263" r:id="rId1007"/>
    <p:sldId id="264" r:id="rId1008"/>
    <p:sldId id="265" r:id="rId1009"/>
    <p:sldId id="266" r:id="rId1010"/>
    <p:sldId id="267" r:id="rId1011"/>
    <p:sldId id="268" r:id="rId1012"/>
    <p:sldId id="269" r:id="rId1013"/>
    <p:sldId id="270" r:id="rId1014"/>
    <p:sldId id="271" r:id="rId10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1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Relationship Id="rId1001" Type="http://schemas.openxmlformats.org/officeDocument/2006/relationships/slide" Target="slides/slide1.xml"/><Relationship Id="rId1002" Type="http://schemas.openxmlformats.org/officeDocument/2006/relationships/slide" Target="slides/slide2.xml"/><Relationship Id="rId1003" Type="http://schemas.openxmlformats.org/officeDocument/2006/relationships/slide" Target="slides/slide3.xml"/><Relationship Id="rId1004" Type="http://schemas.openxmlformats.org/officeDocument/2006/relationships/slide" Target="slides/slide4.xml"/><Relationship Id="rId1005" Type="http://schemas.openxmlformats.org/officeDocument/2006/relationships/slide" Target="slides/slide5.xml"/><Relationship Id="rId1006" Type="http://schemas.openxmlformats.org/officeDocument/2006/relationships/slide" Target="slides/slide6.xml"/><Relationship Id="rId1007" Type="http://schemas.openxmlformats.org/officeDocument/2006/relationships/slide" Target="slides/slide7.xml"/><Relationship Id="rId1008" Type="http://schemas.openxmlformats.org/officeDocument/2006/relationships/slide" Target="slides/slide8.xml"/><Relationship Id="rId1009" Type="http://schemas.openxmlformats.org/officeDocument/2006/relationships/slide" Target="slides/slide9.xml"/><Relationship Id="rId1010" Type="http://schemas.openxmlformats.org/officeDocument/2006/relationships/slide" Target="slides/slide10.xml"/><Relationship Id="rId1011" Type="http://schemas.openxmlformats.org/officeDocument/2006/relationships/slide" Target="slides/slide11.xml"/><Relationship Id="rId1012" Type="http://schemas.openxmlformats.org/officeDocument/2006/relationships/slide" Target="slides/slide12.xml"/><Relationship Id="rId1013" Type="http://schemas.openxmlformats.org/officeDocument/2006/relationships/slide" Target="slides/slide13.xml"/><Relationship Id="rId1014" Type="http://schemas.openxmlformats.org/officeDocument/2006/relationships/slide" Target="slides/slide14.xml"/><Relationship Id="rId1015" Type="http://schemas.openxmlformats.org/officeDocument/2006/relationships/slide" Target="slides/slide1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EE49FC-97EA-E659-D708-D01B5D509F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6CE9A7D-9A2C-8593-1594-70F9CA303D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5E97D2-E301-8392-41F2-DD9FAC7B9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C8074-5E23-4C03-9AF0-0389D408BBA9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31CC2D-289E-3219-1548-2690C739E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E99F6E-6563-9432-4F04-6C404C81F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2E72-774F-49E3-8A45-68843C9055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7894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4B6837-80D5-F115-906F-831ED1146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57DAD7-D283-13CA-18ED-672D42F6C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27F62A-0089-2CE8-5250-47D814A6D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C8074-5E23-4C03-9AF0-0389D408BBA9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34FE0D-4161-7B02-C848-AF489185C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C4C475-6621-13C8-3972-2526B9B35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2E72-774F-49E3-8A45-68843C9055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024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20B325-5274-997D-81A7-2E6D1610A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D017B4C-6A39-B4C6-B55F-A347C6A11E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C700C6-9074-A157-003B-8D4A303BD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C8074-5E23-4C03-9AF0-0389D408BBA9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494EC4-FC85-993E-0C11-068E7F8F6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BC8F41-F382-9256-55F3-FE2F6CD34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2E72-774F-49E3-8A45-68843C9055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0616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298392-5719-A219-4349-979BA481F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1B86D0-0E70-E99C-65C2-ADFBDB2979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A5342AE-8B38-E201-42BC-2EF9887F40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A2435B-75DC-860B-C8CB-EA8403953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C8074-5E23-4C03-9AF0-0389D408BBA9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E4FFF2-7B02-4ADC-D401-FCD6C8339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32913D-751D-3912-743F-2E7F0DD93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2E72-774F-49E3-8A45-68843C9055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534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421C2C-7460-F6E3-5B6E-7337E875F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4601F1-0F83-FE6B-D72A-C3BCC1E2FE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319002-A2F7-6489-694E-A1CA237A5E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8995A52-5E50-BF2D-0F87-104EF9D2FD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FF21DFC-A5B7-668B-4ABF-C6405E076E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80F40E1-6635-FD3C-637F-C4056DE11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C8074-5E23-4C03-9AF0-0389D408BBA9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3098F43-15FB-949A-845F-F42D34B21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43980C2-A4EC-1884-5DC1-B0AF4364E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2E72-774F-49E3-8A45-68843C9055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6269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150DA9-982C-EF74-6F32-E02D030D7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4E13BE5-1324-022D-2AAD-508E3CCFA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C8074-5E23-4C03-9AF0-0389D408BBA9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17FC4BB-AF9D-7439-D3B0-93A49E4D3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FF7A480-0EC3-6A8E-B7A5-77E3B2388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2E72-774F-49E3-8A45-68843C9055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597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45F9E17-D525-6615-6733-DA725838B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C8074-5E23-4C03-9AF0-0389D408BBA9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4EB18D5-19D4-6C14-57A7-ADAF0FFFD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A13FD6-B482-0CFE-D7DC-FE0117103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2E72-774F-49E3-8A45-68843C9055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6040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93169B-E21C-1B23-6409-7388377AA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78B143-59E9-A2BF-5E31-5CAAD3522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A98E27F-5F01-1C6B-B826-CD5CB898AC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D642954-B1F9-60B6-64A7-BE14C610D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C8074-5E23-4C03-9AF0-0389D408BBA9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4F34BE-E13F-4B09-D377-3C315A919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8E8E0AA-B20C-CB0D-9C00-42780B173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2E72-774F-49E3-8A45-68843C9055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442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4A6F4E-EC2C-48AA-C025-B5CB64B75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687ECC5-FC39-D1DB-C67D-9C44C9EFDCF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CF9D7DA-A546-7322-1BA0-0B96590C76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3A8AEF-CFA3-7689-4017-A0332A844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C8074-5E23-4C03-9AF0-0389D408BBA9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7478A4B-0A44-802D-51C9-507AB1127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C299D6-B815-33A4-398A-CB7A056B8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2E72-774F-49E3-8A45-68843C9055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4704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BC18B5-E586-C891-A637-1A83ABFEC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285EBE6-ED2D-7A86-198E-9B1C83DFDB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3FF10E-58B6-34C0-575C-D6E3EC9EE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C8074-5E23-4C03-9AF0-0389D408BBA9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E95BCD-B933-6BD5-7E26-3203BF6A0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236E0A-1F11-777F-546A-A17D967CF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2E72-774F-49E3-8A45-68843C9055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772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7DB3FCC-1F95-7B9B-299F-6166290714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FA55DA0-CA3A-42C2-564A-A5D748EA8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120D13-11F4-210E-3D2C-4EE6D27D7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C8074-5E23-4C03-9AF0-0389D408BBA9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62AB98-03FA-54A4-AA67-E6E603989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810233-33C5-3CC6-BAEA-A00499965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42E72-774F-49E3-8A45-68843C9055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3489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F482C90-8DAB-0888-441C-456AADE1B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DF3F67-3AA2-F25D-1B50-9ECF0C9DB5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CB2B24-91C3-0781-69C7-98EFBD3F04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0C8074-5E23-4C03-9AF0-0389D408BBA9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E73AFD-294B-6295-F74A-B47DC704D3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FFFC85-BB38-D052-9F76-BF2E637CCE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342E72-774F-49E3-8A45-68843C9055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909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01_ui_home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04_ui_home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05_ui_math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06_ui_profile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07_ui_role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09_ui_voice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10_ui_math.png"/><Relationship Id="rId3" Type="http://schemas.openxmlformats.org/officeDocument/2006/relationships/image" Target="../media/10_ui_mobile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12_ui_consent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8EC"/>
              </a:gs>
              <a:gs pos="100000">
                <a:srgbClr val="EDF5FF"/>
              </a:gs>
            </a:gsLst>
            <a:lin ang="27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8EC"/>
              </a:gs>
              <a:gs pos="100000">
                <a:srgbClr val="EDF5FF"/>
              </a:gs>
            </a:gsLst>
            <a:lin ang="27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-1333500" y="-1714500"/>
            <a:ext cx="5334000" cy="5334000"/>
          </a:xfrm>
          <a:prstGeom prst="rect">
            <a:avLst/>
          </a:prstGeom>
          <a:gradFill rotWithShape="1">
            <a:gsLst>
              <a:gs pos="0">
                <a:srgbClr val="FFC58A">
                  <a:alpha val="38000"/>
                </a:srgbClr>
              </a:gs>
              <a:gs pos="70000">
                <a:srgbClr val="FFC58A">
                  <a:alpha val="0"/>
                </a:srgbClr>
              </a:gs>
              <a:gs pos="100000">
                <a:srgbClr val="FFC58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4000500" y="3048000"/>
            <a:ext cx="5905500" cy="5905500"/>
          </a:xfrm>
          <a:prstGeom prst="rect">
            <a:avLst/>
          </a:prstGeom>
          <a:gradFill rotWithShape="1">
            <a:gsLst>
              <a:gs pos="0">
                <a:srgbClr val="9CC4FF">
                  <a:alpha val="38000"/>
                </a:srgbClr>
              </a:gs>
              <a:gs pos="70000">
                <a:srgbClr val="9CC4FF">
                  <a:alpha val="0"/>
                </a:srgbClr>
              </a:gs>
              <a:gs pos="100000">
                <a:srgbClr val="9CC4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571500" y="1657350"/>
            <a:ext cx="323850" cy="571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C7DFF"/>
              </a:gs>
              <a:gs pos="100000">
                <a:srgbClr val="FF8A3D"/>
              </a:gs>
            </a:gsLst>
            <a:lin ang="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990600" y="1552575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300" b="1" dirty="0" spc="400">
                <a:solidFill>
                  <a:srgbClr val="FF8A3D"/>
                </a:solidFill>
                <a:latin typeface="Consolas"/>
                <a:ea typeface="Consolas"/>
                <a:cs typeface="Consolas"/>
              </a:rPr>
              <a:t>HACKATHON 2026 · 学科竞赛作品</a:t>
            </a:r>
          </a:p>
        </p:txBody>
      </p:sp>
      <p:sp>
        <p:nvSpPr>
          <p:cNvPr id="0" name="t"/>
          <p:cNvSpPr txBox="1"/>
          <p:nvPr/>
        </p:nvSpPr>
        <p:spPr>
          <a:xfrm>
            <a:off x="571500" y="1943100"/>
            <a:ext cx="5905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500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你的下一个学习搭子，</a:t>
            </a:r>
          </a:p>
        </p:txBody>
      </p:sp>
      <p:sp>
        <p:nvSpPr>
          <p:cNvPr id="0" name="t"/>
          <p:cNvSpPr txBox="1"/>
          <p:nvPr/>
        </p:nvSpPr>
        <p:spPr>
          <a:xfrm>
            <a:off x="571500" y="2628900"/>
            <a:ext cx="590550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6200" b="1" dirty="0">
                <a:solidFill>
                  <a:srgbClr val="12BFA5"/>
                </a:solidFill>
                <a:latin typeface="Microsoft YaHei"/>
                <a:ea typeface="Microsoft YaHei"/>
                <a:cs typeface="Microsoft YaHei"/>
              </a:rPr>
              <a:t>为什么是 AI？</a:t>
            </a:r>
          </a:p>
        </p:txBody>
      </p:sp>
      <p:sp>
        <p:nvSpPr>
          <p:cNvPr id="0" name="t"/>
          <p:cNvSpPr txBox="1"/>
          <p:nvPr/>
        </p:nvSpPr>
        <p:spPr>
          <a:xfrm>
            <a:off x="571500" y="3638550"/>
            <a:ext cx="5334000" cy="628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lnSpc>
              <a:spcPct val="170000"/>
            </a:lnSpc>
            <a:pPr algn="l"/>
            <a:r>
              <a:rPr lang="zh-CN" sz="165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AI 学习伙伴 —— 一个入口 · 五个角色 · 一份共享记忆</a:t>
            </a:r>
          </a:p>
          <a:p>
            <a:r>
              <a:rPr lang="zh-CN" sz="165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所有推理在本机完成，对话与画像永不离开你的电脑</a:t>
            </a:r>
          </a:p>
        </p:txBody>
      </p:sp>
      <p:sp>
        <p:nvSpPr>
          <p:cNvPr id="0" name="s"/>
          <p:cNvSpPr/>
          <p:nvPr/>
        </p:nvSpPr>
        <p:spPr>
          <a:xfrm>
            <a:off x="571500" y="4400550"/>
            <a:ext cx="154305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FE7F6">
                <a:alpha val="100000"/>
              </a:srgbClr>
            </a:solidFill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628650" y="4400550"/>
            <a:ext cx="142875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zh-CN" sz="1150" b="0" dirty="0">
                <a:solidFill>
                  <a:srgbClr val="5A6C88"/>
                </a:solidFill>
                <a:latin typeface="Consolas"/>
                <a:ea typeface="Consolas"/>
                <a:cs typeface="Consolas"/>
              </a:rPr>
              <a:t>单 HTML 离线优先</a:t>
            </a:r>
          </a:p>
        </p:txBody>
      </p:sp>
      <p:sp>
        <p:nvSpPr>
          <p:cNvPr id="0" name="s"/>
          <p:cNvSpPr/>
          <p:nvPr/>
        </p:nvSpPr>
        <p:spPr>
          <a:xfrm>
            <a:off x="2209800" y="4400550"/>
            <a:ext cx="16002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FE7F6">
                <a:alpha val="100000"/>
              </a:srgbClr>
            </a:solidFill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2266950" y="4400550"/>
            <a:ext cx="14859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zh-CN" sz="1150" b="0" dirty="0">
                <a:solidFill>
                  <a:srgbClr val="5A6C88"/>
                </a:solidFill>
                <a:latin typeface="Consolas"/>
                <a:ea typeface="Consolas"/>
                <a:cs typeface="Consolas"/>
              </a:rPr>
              <a:t>本地大模型推理</a:t>
            </a:r>
          </a:p>
        </p:txBody>
      </p:sp>
      <p:sp>
        <p:nvSpPr>
          <p:cNvPr id="0" name="s"/>
          <p:cNvSpPr/>
          <p:nvPr/>
        </p:nvSpPr>
        <p:spPr>
          <a:xfrm>
            <a:off x="3905250" y="4400550"/>
            <a:ext cx="1143000" cy="304800"/>
          </a:xfrm>
          <a:prstGeom prst="roundRect">
            <a:avLst>
              <a:gd name="adj" fmla="val 50000"/>
            </a:avLst>
          </a:prstGeom>
          <a:solidFill>
            <a:srgbClr val="FFF1E3"/>
          </a:solidFill>
          <a:ln w="12700">
            <a:solidFill>
              <a:srgbClr val="4C7DFF">
                <a:alpha val="100000"/>
              </a:srgbClr>
            </a:solidFill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3962400" y="4400550"/>
            <a:ext cx="10287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zh-CN" sz="1150" b="1" dirty="0">
                <a:solidFill>
                  <a:srgbClr val="2F5FE0"/>
                </a:solidFill>
                <a:latin typeface="Consolas"/>
                <a:ea typeface="Consolas"/>
                <a:cs typeface="Consolas"/>
              </a:rPr>
              <a:t>隐私零上传</a:t>
            </a:r>
          </a:p>
        </p:txBody>
      </p:sp>
      <p:sp>
        <p:nvSpPr>
          <p:cNvPr id="0" name="s"/>
          <p:cNvSpPr/>
          <p:nvPr/>
        </p:nvSpPr>
        <p:spPr>
          <a:xfrm>
            <a:off x="6172200" y="1143000"/>
            <a:ext cx="723900" cy="723900"/>
          </a:xfrm>
          <a:prstGeom prst="roundRect">
            <a:avLst>
              <a:gd name="adj" fmla="val 100000"/>
            </a:avLst>
          </a:prstGeom>
          <a:solidFill>
            <a:srgbClr val="FFD9A8">
              <a:alpha val="1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6172200" y="1143000"/>
            <a:ext cx="723900" cy="723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zh-CN" sz="3800" b="0" dirty="0">
                <a:solidFill>
                  <a:srgbClr val="142B4A"/>
                </a:solidFill>
                <a:latin typeface="Segoe UI Emoji"/>
                <a:ea typeface="Segoe UI Emoji"/>
                <a:cs typeface="Segoe UI Emoji"/>
              </a:rPr>
              <a:t>☀️</a:t>
            </a:r>
          </a:p>
        </p:txBody>
      </p:sp>
      <p:sp>
        <p:nvSpPr>
          <p:cNvPr id="0" name="s"/>
          <p:cNvSpPr/>
          <p:nvPr/>
        </p:nvSpPr>
        <p:spPr>
          <a:xfrm>
            <a:off x="9239250" y="476250"/>
            <a:ext cx="2381250" cy="323850"/>
          </a:xfrm>
          <a:prstGeom prst="roundRect">
            <a:avLst>
              <a:gd name="adj" fmla="val 50000"/>
            </a:avLst>
          </a:prstGeom>
          <a:solidFill>
            <a:srgbClr val="FFF1E3"/>
          </a:solidFill>
          <a:ln w="12700">
            <a:solidFill>
              <a:srgbClr val="FF8A3D">
                <a:alpha val="100000"/>
              </a:srgbClr>
            </a:solidFill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9315450" y="476250"/>
            <a:ext cx="22288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zh-CN" sz="1200" b="1" dirty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🫡 早八人自救指南</a:t>
            </a:r>
          </a:p>
        </p:txBody>
      </p:sp>
      <p:sp>
        <p:nvSpPr>
          <p:cNvPr id="0" name="s"/>
          <p:cNvSpPr/>
          <p:nvPr/>
        </p:nvSpPr>
        <p:spPr>
          <a:xfrm>
            <a:off x="6896100" y="1943100"/>
            <a:ext cx="5143500" cy="3219450"/>
          </a:xfrm>
          <a:prstGeom prst="roundRect">
            <a:avLst>
              <a:gd name="adj" fmla="val 4733"/>
            </a:avLst>
          </a:prstGeom>
          <a:gradFill rotWithShape="1">
            <a:gsLst>
              <a:gs pos="0">
                <a:srgbClr val="FFD9BC"/>
              </a:gs>
              <a:gs pos="100000">
                <a:srgbClr val="BFD8FF"/>
              </a:gs>
            </a:gsLst>
            <a:lin ang="2700000" scaled="1"/>
          </a:gradFill>
          <a:ln>
            <a:noFill/>
          </a:ln>
        </p:spPr>
        <p:txBody>
          <a:bodyPr/>
          <a:lstStyle/>
          <a:p/>
        </p:txBody>
      </p:sp>
      <p:pic>
        <p:nvPicPr>
          <p:cNvPr id="0" name="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0" y="1714500"/>
            <a:ext cx="5143500" cy="3219450"/>
          </a:xfrm>
          <a:prstGeom prst="roundRect">
            <a:avLst>
              <a:gd name="adj" fmla="val 2958"/>
            </a:avLst>
          </a:prstGeom>
          <a:ln w="12700">
            <a:solidFill>
              <a:srgbClr val="DFE7F6"/>
            </a:solidFill>
          </a:ln>
          <a:effectLst>
            <a:outerShdw blurRad="190500" dist="50800" dir="5400000" rotWithShape="0">
              <a:srgbClr val="0B1B3A">
                <a:alpha val="14000"/>
              </a:srgbClr>
            </a:outerShdw>
          </a:effectLst>
        </p:spPr>
      </p:pic>
      <p:sp>
        <p:nvSpPr>
          <p:cNvPr id="0" name="s"/>
          <p:cNvSpPr/>
          <p:nvPr/>
        </p:nvSpPr>
        <p:spPr>
          <a:xfrm>
            <a:off x="6819900" y="4705350"/>
            <a:ext cx="1905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FE7F6">
                <a:alpha val="100000"/>
              </a:srgbClr>
            </a:solidFill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6934200" y="4800600"/>
            <a:ext cx="66675" cy="66675"/>
          </a:xfrm>
          <a:prstGeom prst="roundRect">
            <a:avLst>
              <a:gd name="adj" fmla="val 100000"/>
            </a:avLst>
          </a:prstGeom>
          <a:solidFill>
            <a:srgbClr val="FF8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7067550" y="4743450"/>
            <a:ext cx="16192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100" b="0" dirty="0">
                <a:solidFill>
                  <a:srgbClr val="5A6C88"/>
                </a:solidFill>
                <a:latin typeface="Consolas"/>
                <a:ea typeface="Consolas"/>
                <a:cs typeface="Consolas"/>
              </a:rPr>
              <a:t>实机界面 · 演示模式</a:t>
            </a:r>
          </a:p>
        </p:txBody>
      </p:sp>
      <p:sp>
        <p:nvSpPr>
          <p:cNvPr id="0" name="t"/>
          <p:cNvSpPr txBox="1"/>
          <p:nvPr/>
        </p:nvSpPr>
        <p:spPr>
          <a:xfrm>
            <a:off x="571500" y="655320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150" b="0" dirty="0">
                <a:solidFill>
                  <a:srgbClr val="93A3BF"/>
                </a:solidFill>
                <a:latin typeface="Consolas"/>
                <a:ea typeface="Consolas"/>
                <a:cs typeface="Consolas"/>
              </a:rPr>
              <a:t>AI 学习伙伴 · HACKATHON 2026</a:t>
            </a:r>
          </a:p>
        </p:txBody>
      </p:sp>
      <p:sp>
        <p:nvSpPr>
          <p:cNvPr id="0" name="t"/>
          <p:cNvSpPr txBox="1"/>
          <p:nvPr/>
        </p:nvSpPr>
        <p:spPr>
          <a:xfrm>
            <a:off x="10287000" y="6553200"/>
            <a:ext cx="1333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r"/>
            <a:r>
              <a:rPr lang="zh-CN" sz="1150" b="0" dirty="0">
                <a:solidFill>
                  <a:srgbClr val="93A3BF"/>
                </a:solidFill>
                <a:latin typeface="Consolas"/>
                <a:ea typeface="Consolas"/>
                <a:cs typeface="Consolas"/>
              </a:rPr>
              <a:t>01 / 15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8EC"/>
              </a:gs>
              <a:gs pos="100000">
                <a:srgbClr val="EDF5FF"/>
              </a:gs>
            </a:gsLst>
            <a:lin ang="27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8EC"/>
              </a:gs>
              <a:gs pos="100000">
                <a:srgbClr val="EDF5FF"/>
              </a:gs>
            </a:gsLst>
            <a:lin ang="27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8953500" y="-1524000"/>
            <a:ext cx="4381500" cy="4381500"/>
          </a:xfrm>
          <a:prstGeom prst="rect">
            <a:avLst/>
          </a:prstGeom>
          <a:gradFill rotWithShape="1">
            <a:gsLst>
              <a:gs pos="0">
                <a:srgbClr val="FFC58A">
                  <a:alpha val="38000"/>
                </a:srgbClr>
              </a:gs>
              <a:gs pos="70000">
                <a:srgbClr val="FFC58A">
                  <a:alpha val="0"/>
                </a:srgbClr>
              </a:gs>
              <a:gs pos="100000">
                <a:srgbClr val="FFC58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571500" y="38100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200" b="1" dirty="0" spc="300">
                <a:solidFill>
                  <a:srgbClr val="4C7DFF"/>
                </a:solidFill>
                <a:latin typeface="Consolas"/>
                <a:ea typeface="Consolas"/>
                <a:cs typeface="Consolas"/>
              </a:rPr>
              <a:t>01 · PAIN POINTS</a:t>
            </a:r>
          </a:p>
        </p:txBody>
      </p:sp>
      <p:sp>
        <p:nvSpPr>
          <p:cNvPr id="0" name="t"/>
          <p:cNvSpPr txBox="1"/>
          <p:nvPr/>
        </p:nvSpPr>
        <p:spPr>
          <a:xfrm>
            <a:off x="571500" y="628650"/>
            <a:ext cx="247650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lnSpc>
              <a:spcPct val="130000"/>
            </a:lnSpc>
            <a:pPr algn="l"/>
            <a:r>
              <a:rPr lang="zh-CN" sz="320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大学生的困扰，散落在五个 App 里</a:t>
            </a:r>
          </a:p>
        </p:txBody>
      </p:sp>
      <p:sp>
        <p:nvSpPr>
          <p:cNvPr id="0" name="t"/>
          <p:cNvSpPr txBox="1"/>
          <p:nvPr/>
        </p:nvSpPr>
        <p:spPr>
          <a:xfrm>
            <a:off x="571500" y="2038350"/>
            <a:ext cx="2095500" cy="876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8400" b="1" dirty="0">
                <a:solidFill>
                  <a:srgbClr val="12BFA5"/>
                </a:solidFill>
                <a:latin typeface="Microsoft YaHei"/>
                <a:ea typeface="Microsoft YaHei"/>
                <a:cs typeface="Microsoft YaHei"/>
              </a:rPr>
              <a:t>×5</a:t>
            </a:r>
          </a:p>
        </p:txBody>
      </p:sp>
      <p:sp>
        <p:nvSpPr>
          <p:cNvPr id="0" name="t"/>
          <p:cNvSpPr txBox="1"/>
          <p:nvPr/>
        </p:nvSpPr>
        <p:spPr>
          <a:xfrm>
            <a:off x="571500" y="3143250"/>
            <a:ext cx="2381250" cy="1047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lnSpc>
              <a:spcPct val="165000"/>
            </a:lnSpc>
            <a:pPr algn="l"/>
            <a:r>
              <a:rPr lang="zh-CN" sz="135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五类日常需求，装在五个互不相识的应用里——它们彼此不认识你。</a:t>
            </a:r>
          </a:p>
        </p:txBody>
      </p:sp>
      <p:sp>
        <p:nvSpPr>
          <p:cNvPr id="0" name="s"/>
          <p:cNvSpPr/>
          <p:nvPr/>
        </p:nvSpPr>
        <p:spPr>
          <a:xfrm>
            <a:off x="3333750" y="381000"/>
            <a:ext cx="8286750" cy="685800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DFE7F6">
                <a:alpha val="100000"/>
              </a:srgbClr>
            </a:solidFill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3486150" y="523875"/>
            <a:ext cx="400050" cy="400050"/>
          </a:xfrm>
          <a:prstGeom prst="roundRect">
            <a:avLst>
              <a:gd name="adj" fmla="val 28000"/>
            </a:avLst>
          </a:prstGeom>
          <a:solidFill>
            <a:srgbClr val="4C7DFF">
              <a:alpha val="8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3486150" y="523875"/>
            <a:ext cx="400050" cy="4000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zh-CN" sz="1764" b="0" dirty="0">
                <a:solidFill>
                  <a:srgbClr val="142B4A"/>
                </a:solidFill>
                <a:latin typeface="Segoe UI Emoji"/>
                <a:ea typeface="Segoe UI Emoji"/>
                <a:cs typeface="Segoe UI Emoji"/>
              </a:rPr>
              <a:t>📚</a:t>
            </a:r>
          </a:p>
        </p:txBody>
      </p:sp>
      <p:sp>
        <p:nvSpPr>
          <p:cNvPr id="0" name="t"/>
          <p:cNvSpPr txBox="1"/>
          <p:nvPr/>
        </p:nvSpPr>
        <p:spPr>
          <a:xfrm>
            <a:off x="4038600" y="504825"/>
            <a:ext cx="7429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50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高数 / 编程卡壳</a:t>
            </a:r>
          </a:p>
        </p:txBody>
      </p:sp>
      <p:sp>
        <p:nvSpPr>
          <p:cNvPr id="0" name="t"/>
          <p:cNvSpPr txBox="1"/>
          <p:nvPr/>
        </p:nvSpPr>
        <p:spPr>
          <a:xfrm>
            <a:off x="4038600" y="752475"/>
            <a:ext cx="7429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25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搜题答案只有结论，推导过程全靠想象力 🫠</a:t>
            </a:r>
          </a:p>
        </p:txBody>
      </p:sp>
      <p:sp>
        <p:nvSpPr>
          <p:cNvPr id="0" name="s"/>
          <p:cNvSpPr/>
          <p:nvPr/>
        </p:nvSpPr>
        <p:spPr>
          <a:xfrm>
            <a:off x="3333750" y="1162050"/>
            <a:ext cx="8286750" cy="685800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DFE7F6">
                <a:alpha val="100000"/>
              </a:srgbClr>
            </a:solidFill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3486150" y="1304925"/>
            <a:ext cx="400050" cy="400050"/>
          </a:xfrm>
          <a:prstGeom prst="roundRect">
            <a:avLst>
              <a:gd name="adj" fmla="val 28000"/>
            </a:avLst>
          </a:prstGeom>
          <a:solidFill>
            <a:srgbClr val="FF8A3D">
              <a:alpha val="8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3486150" y="1304925"/>
            <a:ext cx="400050" cy="4000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zh-CN" sz="1764" b="0" dirty="0">
                <a:solidFill>
                  <a:srgbClr val="142B4A"/>
                </a:solidFill>
                <a:latin typeface="Segoe UI Emoji"/>
                <a:ea typeface="Segoe UI Emoji"/>
                <a:cs typeface="Segoe UI Emoji"/>
              </a:rPr>
              <a:t>😔</a:t>
            </a:r>
          </a:p>
        </p:txBody>
      </p:sp>
      <p:sp>
        <p:nvSpPr>
          <p:cNvPr id="0" name="t"/>
          <p:cNvSpPr txBox="1"/>
          <p:nvPr/>
        </p:nvSpPr>
        <p:spPr>
          <a:xfrm>
            <a:off x="4038600" y="1285875"/>
            <a:ext cx="7429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50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情绪压力没人接</a:t>
            </a:r>
          </a:p>
        </p:txBody>
      </p:sp>
      <p:sp>
        <p:nvSpPr>
          <p:cNvPr id="0" name="t"/>
          <p:cNvSpPr txBox="1"/>
          <p:nvPr/>
        </p:nvSpPr>
        <p:spPr>
          <a:xfrm>
            <a:off x="4038600" y="1533525"/>
            <a:ext cx="7429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25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期末周 + 宿舍小摩擦，学校咨询预约排到下个月 😵‍💫</a:t>
            </a:r>
          </a:p>
        </p:txBody>
      </p:sp>
      <p:sp>
        <p:nvSpPr>
          <p:cNvPr id="0" name="s"/>
          <p:cNvSpPr/>
          <p:nvPr/>
        </p:nvSpPr>
        <p:spPr>
          <a:xfrm>
            <a:off x="3333750" y="1943100"/>
            <a:ext cx="8286750" cy="685800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DFE7F6">
                <a:alpha val="100000"/>
              </a:srgbClr>
            </a:solidFill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3486150" y="2085975"/>
            <a:ext cx="400050" cy="400050"/>
          </a:xfrm>
          <a:prstGeom prst="roundRect">
            <a:avLst>
              <a:gd name="adj" fmla="val 28000"/>
            </a:avLst>
          </a:prstGeom>
          <a:solidFill>
            <a:srgbClr val="4C7DFF">
              <a:alpha val="8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3486150" y="2085975"/>
            <a:ext cx="400050" cy="4000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zh-CN" sz="1764" b="0" dirty="0">
                <a:solidFill>
                  <a:srgbClr val="142B4A"/>
                </a:solidFill>
                <a:latin typeface="Segoe UI Emoji"/>
                <a:ea typeface="Segoe UI Emoji"/>
                <a:cs typeface="Segoe UI Emoji"/>
              </a:rPr>
              <a:t>🧭</a:t>
            </a:r>
          </a:p>
        </p:txBody>
      </p:sp>
      <p:sp>
        <p:nvSpPr>
          <p:cNvPr id="0" name="t"/>
          <p:cNvSpPr txBox="1"/>
          <p:nvPr/>
        </p:nvSpPr>
        <p:spPr>
          <a:xfrm>
            <a:off x="4038600" y="2066925"/>
            <a:ext cx="7429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50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未来规划迷茫</a:t>
            </a:r>
          </a:p>
        </p:txBody>
      </p:sp>
      <p:sp>
        <p:nvSpPr>
          <p:cNvPr id="0" name="t"/>
          <p:cNvSpPr txBox="1"/>
          <p:nvPr/>
        </p:nvSpPr>
        <p:spPr>
          <a:xfrm>
            <a:off x="4038600" y="2314575"/>
            <a:ext cx="7429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25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考研考公就业出国，选择困难症当场发作 🤯</a:t>
            </a:r>
          </a:p>
        </p:txBody>
      </p:sp>
      <p:sp>
        <p:nvSpPr>
          <p:cNvPr id="0" name="s"/>
          <p:cNvSpPr/>
          <p:nvPr/>
        </p:nvSpPr>
        <p:spPr>
          <a:xfrm>
            <a:off x="3333750" y="2724150"/>
            <a:ext cx="8286750" cy="685800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DFE7F6">
                <a:alpha val="100000"/>
              </a:srgbClr>
            </a:solidFill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3486150" y="2867025"/>
            <a:ext cx="400050" cy="400050"/>
          </a:xfrm>
          <a:prstGeom prst="roundRect">
            <a:avLst>
              <a:gd name="adj" fmla="val 28000"/>
            </a:avLst>
          </a:prstGeom>
          <a:solidFill>
            <a:srgbClr val="FF8A3D">
              <a:alpha val="8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3486150" y="2867025"/>
            <a:ext cx="400050" cy="4000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zh-CN" sz="1764" b="0" dirty="0">
                <a:solidFill>
                  <a:srgbClr val="142B4A"/>
                </a:solidFill>
                <a:latin typeface="Segoe UI Emoji"/>
                <a:ea typeface="Segoe UI Emoji"/>
                <a:cs typeface="Segoe UI Emoji"/>
              </a:rPr>
              <a:t>🩺</a:t>
            </a:r>
          </a:p>
        </p:txBody>
      </p:sp>
      <p:sp>
        <p:nvSpPr>
          <p:cNvPr id="0" name="t"/>
          <p:cNvSpPr txBox="1"/>
          <p:nvPr/>
        </p:nvSpPr>
        <p:spPr>
          <a:xfrm>
            <a:off x="4038600" y="2847975"/>
            <a:ext cx="7429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50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健康问题硬扛</a:t>
            </a:r>
          </a:p>
        </p:txBody>
      </p:sp>
      <p:sp>
        <p:nvSpPr>
          <p:cNvPr id="0" name="t"/>
          <p:cNvSpPr txBox="1"/>
          <p:nvPr/>
        </p:nvSpPr>
        <p:spPr>
          <a:xfrm>
            <a:off x="4038600" y="3095625"/>
            <a:ext cx="7429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25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脆皮大学生实锤：熬夜掉发、久坐腰疼，全靠硬扛 🫨</a:t>
            </a:r>
          </a:p>
        </p:txBody>
      </p:sp>
      <p:sp>
        <p:nvSpPr>
          <p:cNvPr id="0" name="s"/>
          <p:cNvSpPr/>
          <p:nvPr/>
        </p:nvSpPr>
        <p:spPr>
          <a:xfrm>
            <a:off x="3333750" y="3505200"/>
            <a:ext cx="8286750" cy="685800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DFE7F6">
                <a:alpha val="100000"/>
              </a:srgbClr>
            </a:solidFill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3486150" y="3648075"/>
            <a:ext cx="400050" cy="400050"/>
          </a:xfrm>
          <a:prstGeom prst="roundRect">
            <a:avLst>
              <a:gd name="adj" fmla="val 28000"/>
            </a:avLst>
          </a:prstGeom>
          <a:solidFill>
            <a:srgbClr val="4C7DFF">
              <a:alpha val="8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3486150" y="3648075"/>
            <a:ext cx="400050" cy="4000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zh-CN" sz="1764" b="0" dirty="0">
                <a:solidFill>
                  <a:srgbClr val="142B4A"/>
                </a:solidFill>
                <a:latin typeface="Segoe UI Emoji"/>
                <a:ea typeface="Segoe UI Emoji"/>
                <a:cs typeface="Segoe UI Emoji"/>
              </a:rPr>
              <a:t>💸</a:t>
            </a:r>
          </a:p>
        </p:txBody>
      </p:sp>
      <p:sp>
        <p:nvSpPr>
          <p:cNvPr id="0" name="t"/>
          <p:cNvSpPr txBox="1"/>
          <p:nvPr/>
        </p:nvSpPr>
        <p:spPr>
          <a:xfrm>
            <a:off x="4038600" y="3629025"/>
            <a:ext cx="7429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50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生活费月中见底</a:t>
            </a:r>
          </a:p>
        </p:txBody>
      </p:sp>
      <p:sp>
        <p:nvSpPr>
          <p:cNvPr id="0" name="t"/>
          <p:cNvSpPr txBox="1"/>
          <p:nvPr/>
        </p:nvSpPr>
        <p:spPr>
          <a:xfrm>
            <a:off x="4038600" y="3876675"/>
            <a:ext cx="7429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25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月薪喵本喵：生活费到账即清零，月底靠泡面续命 💸</a:t>
            </a:r>
          </a:p>
        </p:txBody>
      </p:sp>
      <p:sp>
        <p:nvSpPr>
          <p:cNvPr id="0" name="s"/>
          <p:cNvSpPr/>
          <p:nvPr/>
        </p:nvSpPr>
        <p:spPr>
          <a:xfrm>
            <a:off x="571500" y="4400550"/>
            <a:ext cx="11049000" cy="476250"/>
          </a:xfrm>
          <a:prstGeom prst="roundRect">
            <a:avLst>
              <a:gd name="adj" fmla="val 24000"/>
            </a:avLst>
          </a:prstGeom>
          <a:solidFill>
            <a:srgbClr val="4C7DFF">
              <a:alpha val="13000"/>
            </a:srgbClr>
          </a:solidFill>
          <a:ln w="12700">
            <a:solidFill>
              <a:srgbClr val="4C7DFF">
                <a:alpha val="100000"/>
              </a:srgbClr>
            </a:solidFill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571500" y="5143500"/>
            <a:ext cx="2857500" cy="32385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2700">
            <a:solidFill>
              <a:srgbClr val="4C7DFF">
                <a:alpha val="100000"/>
              </a:srgbClr>
            </a:solidFill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647700" y="5143500"/>
            <a:ext cx="2705100" cy="3238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zh-CN" sz="1200" b="1" dirty="0">
                <a:solidFill>
                  <a:srgbClr val="2F5FE0"/>
                </a:solidFill>
                <a:latin typeface="Microsoft YaHei"/>
                <a:ea typeface="Microsoft YaHei"/>
                <a:cs typeface="Microsoft YaHei"/>
              </a:rPr>
              <a:t>🩹 脆皮大学生的自救指南，从这一页开始</a:t>
            </a:r>
          </a:p>
        </p:txBody>
      </p:sp>
      <p:sp>
        <p:nvSpPr>
          <p:cNvPr id="0" name="t"/>
          <p:cNvSpPr txBox="1"/>
          <p:nvPr/>
        </p:nvSpPr>
        <p:spPr>
          <a:xfrm>
            <a:off x="800100" y="453390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zh-CN" sz="1300" b="0" dirty="0">
                <a:solidFill>
                  <a:srgbClr val="FF8A3D"/>
                </a:solidFill>
                <a:latin typeface="Segoe UI Emoji"/>
                <a:ea typeface="Segoe UI Emoji"/>
                <a:cs typeface="Segoe UI Emoji"/>
              </a:rPr>
              <a:t>⚠ </a:t>
            </a:r>
            <a:r>
              <a:rPr lang="zh-CN" sz="1400" b="0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核心矛盾：工具越装越多，但没有一个工具真正认识你——而你的隐私，却一路上传到了云端。</a:t>
            </a:r>
          </a:p>
        </p:txBody>
      </p:sp>
      <p:sp>
        <p:nvSpPr>
          <p:cNvPr id="0" name="t"/>
          <p:cNvSpPr txBox="1"/>
          <p:nvPr/>
        </p:nvSpPr>
        <p:spPr>
          <a:xfrm>
            <a:off x="571500" y="655320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150" b="0" dirty="0">
                <a:solidFill>
                  <a:srgbClr val="93A3BF"/>
                </a:solidFill>
                <a:latin typeface="Consolas"/>
                <a:ea typeface="Consolas"/>
                <a:cs typeface="Consolas"/>
              </a:rPr>
              <a:t>AI 学习伙伴 · HACKATHON 2026</a:t>
            </a:r>
          </a:p>
        </p:txBody>
      </p:sp>
      <p:sp>
        <p:nvSpPr>
          <p:cNvPr id="0" name="t"/>
          <p:cNvSpPr txBox="1"/>
          <p:nvPr/>
        </p:nvSpPr>
        <p:spPr>
          <a:xfrm>
            <a:off x="10287000" y="6553200"/>
            <a:ext cx="1333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r"/>
            <a:r>
              <a:rPr lang="zh-CN" sz="1150" b="0" dirty="0">
                <a:solidFill>
                  <a:srgbClr val="93A3BF"/>
                </a:solidFill>
                <a:latin typeface="Consolas"/>
                <a:ea typeface="Consolas"/>
                <a:cs typeface="Consolas"/>
              </a:rPr>
              <a:t>02 / 15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8EC"/>
              </a:gs>
              <a:gs pos="100000">
                <a:srgbClr val="EDF5FF"/>
              </a:gs>
            </a:gsLst>
            <a:lin ang="27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8EC"/>
              </a:gs>
              <a:gs pos="100000">
                <a:srgbClr val="EDF5FF"/>
              </a:gs>
            </a:gsLst>
            <a:lin ang="27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2667000" y="-1333500"/>
            <a:ext cx="5715000" cy="5715000"/>
          </a:xfrm>
          <a:prstGeom prst="rect">
            <a:avLst/>
          </a:prstGeom>
          <a:gradFill rotWithShape="1">
            <a:gsLst>
              <a:gs pos="0">
                <a:srgbClr val="FFC58A">
                  <a:alpha val="38000"/>
                </a:srgbClr>
              </a:gs>
              <a:gs pos="70000">
                <a:srgbClr val="FFC58A">
                  <a:alpha val="0"/>
                </a:srgbClr>
              </a:gs>
              <a:gs pos="100000">
                <a:srgbClr val="FFC58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571500" y="381000"/>
            <a:ext cx="6667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200" b="1" dirty="0" spc="300">
                <a:solidFill>
                  <a:srgbClr val="4C7DFF"/>
                </a:solidFill>
                <a:latin typeface="Consolas"/>
                <a:ea typeface="Consolas"/>
                <a:cs typeface="Consolas"/>
              </a:rPr>
              <a:t>02 · SOLUTION</a:t>
            </a:r>
          </a:p>
        </p:txBody>
      </p:sp>
      <p:sp>
        <p:nvSpPr>
          <p:cNvPr id="0" name="t"/>
          <p:cNvSpPr txBox="1"/>
          <p:nvPr/>
        </p:nvSpPr>
        <p:spPr>
          <a:xfrm>
            <a:off x="571500" y="628650"/>
            <a:ext cx="85725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320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一个入口，五个角色，共享一份记忆</a:t>
            </a:r>
          </a:p>
        </p:txBody>
      </p:sp>
      <p:sp>
        <p:nvSpPr>
          <p:cNvPr id="0" name="s"/>
          <p:cNvSpPr/>
          <p:nvPr/>
        </p:nvSpPr>
        <p:spPr>
          <a:xfrm>
            <a:off x="9239250" y="476250"/>
            <a:ext cx="2381250" cy="32385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2700">
            <a:solidFill>
              <a:srgbClr val="4C7DFF">
                <a:alpha val="100000"/>
              </a:srgbClr>
            </a:solidFill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9315450" y="476250"/>
            <a:ext cx="22288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zh-CN" sz="1200" b="1" dirty="0">
                <a:solidFill>
                  <a:srgbClr val="2F5FE0"/>
                </a:solidFill>
                <a:latin typeface="Microsoft YaHei"/>
                <a:ea typeface="Microsoft YaHei"/>
                <a:cs typeface="Microsoft YaHei"/>
              </a:rPr>
              <a:t>👀 尊嘟假嘟？它真的记得你</a:t>
            </a:r>
          </a:p>
        </p:txBody>
      </p:sp>
      <p:sp>
        <p:nvSpPr>
          <p:cNvPr id="0" name="t"/>
          <p:cNvSpPr txBox="1"/>
          <p:nvPr/>
        </p:nvSpPr>
        <p:spPr>
          <a:xfrm>
            <a:off x="1047750" y="1333500"/>
            <a:ext cx="2667000" cy="113919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ctr"/>
            <a:r>
              <a:rPr lang="zh-CN" sz="10400" b="1" dirty="0">
                <a:solidFill>
                  <a:srgbClr val="12BFA5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0" name="t"/>
          <p:cNvSpPr txBox="1"/>
          <p:nvPr/>
        </p:nvSpPr>
        <p:spPr>
          <a:xfrm>
            <a:off x="1047750" y="2502408"/>
            <a:ext cx="26670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ctr"/>
            <a:r>
              <a:rPr lang="zh-CN" sz="180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个入口</a:t>
            </a:r>
          </a:p>
        </p:txBody>
      </p:sp>
      <p:sp>
        <p:nvSpPr>
          <p:cNvPr id="0" name="t"/>
          <p:cNvSpPr txBox="1"/>
          <p:nvPr/>
        </p:nvSpPr>
        <p:spPr>
          <a:xfrm>
            <a:off x="952500" y="2788158"/>
            <a:ext cx="28575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lnSpc>
              <a:spcPct val="160000"/>
            </a:lnSpc>
            <a:pPr algn="ctr"/>
            <a:r>
              <a:rPr lang="zh-CN" sz="125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单 HTML 文件，双击即用</a:t>
            </a:r>
          </a:p>
          <a:p>
            <a:r>
              <a:rPr lang="zh-CN" sz="125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不注册、不装 App、不联网也能跑</a:t>
            </a:r>
          </a:p>
        </p:txBody>
      </p:sp>
      <p:sp>
        <p:nvSpPr>
          <p:cNvPr id="0" name="t"/>
          <p:cNvSpPr txBox="1"/>
          <p:nvPr/>
        </p:nvSpPr>
        <p:spPr>
          <a:xfrm>
            <a:off x="3200400" y="1714500"/>
            <a:ext cx="5334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ctr"/>
            <a:r>
              <a:rPr lang="zh-CN" sz="2600" b="0" dirty="0">
                <a:solidFill>
                  <a:srgbClr val="DFE7F6"/>
                </a:solidFill>
                <a:latin typeface="Consolas"/>
                <a:ea typeface="Consolas"/>
                <a:cs typeface="Consolas"/>
              </a:rPr>
              <a:t>+</a:t>
            </a:r>
          </a:p>
        </p:txBody>
      </p:sp>
      <p:sp>
        <p:nvSpPr>
          <p:cNvPr id="0" name="t"/>
          <p:cNvSpPr txBox="1"/>
          <p:nvPr/>
        </p:nvSpPr>
        <p:spPr>
          <a:xfrm>
            <a:off x="4762500" y="1104900"/>
            <a:ext cx="2667000" cy="164306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ctr"/>
            <a:r>
              <a:rPr lang="zh-CN" sz="15000" b="1" dirty="0">
                <a:solidFill>
                  <a:srgbClr val="4C7D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0" name="t"/>
          <p:cNvSpPr txBox="1"/>
          <p:nvPr/>
        </p:nvSpPr>
        <p:spPr>
          <a:xfrm>
            <a:off x="4762500" y="2790825"/>
            <a:ext cx="26670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ctr"/>
            <a:r>
              <a:rPr lang="zh-CN" sz="180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个专业角色</a:t>
            </a:r>
          </a:p>
        </p:txBody>
      </p:sp>
      <p:sp>
        <p:nvSpPr>
          <p:cNvPr id="0" name="t"/>
          <p:cNvSpPr txBox="1"/>
          <p:nvPr/>
        </p:nvSpPr>
        <p:spPr>
          <a:xfrm>
            <a:off x="4667250" y="3076575"/>
            <a:ext cx="28575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lnSpc>
              <a:spcPct val="160000"/>
            </a:lnSpc>
            <a:pPr algn="ctr"/>
            <a:r>
              <a:rPr lang="zh-CN" sz="125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学科教师 · 心理老师 · 生活规划</a:t>
            </a:r>
          </a:p>
          <a:p>
            <a:r>
              <a:rPr lang="zh-CN" sz="125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健康助手 · 理财助手，各有明确边界</a:t>
            </a:r>
          </a:p>
        </p:txBody>
      </p:sp>
      <p:sp>
        <p:nvSpPr>
          <p:cNvPr id="0" name="t"/>
          <p:cNvSpPr txBox="1"/>
          <p:nvPr/>
        </p:nvSpPr>
        <p:spPr>
          <a:xfrm>
            <a:off x="8248650" y="1714500"/>
            <a:ext cx="5334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ctr"/>
            <a:r>
              <a:rPr lang="zh-CN" sz="2600" b="0" dirty="0">
                <a:solidFill>
                  <a:srgbClr val="DFE7F6"/>
                </a:solidFill>
                <a:latin typeface="Consolas"/>
                <a:ea typeface="Consolas"/>
                <a:cs typeface="Consolas"/>
              </a:rPr>
              <a:t>+</a:t>
            </a:r>
          </a:p>
        </p:txBody>
      </p:sp>
      <p:sp>
        <p:nvSpPr>
          <p:cNvPr id="0" name="t"/>
          <p:cNvSpPr txBox="1"/>
          <p:nvPr/>
        </p:nvSpPr>
        <p:spPr>
          <a:xfrm>
            <a:off x="8477250" y="1333500"/>
            <a:ext cx="2667000" cy="113919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ctr"/>
            <a:r>
              <a:rPr lang="zh-CN" sz="10400" b="1" dirty="0">
                <a:solidFill>
                  <a:srgbClr val="FF8A3D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0" name="t"/>
          <p:cNvSpPr txBox="1"/>
          <p:nvPr/>
        </p:nvSpPr>
        <p:spPr>
          <a:xfrm>
            <a:off x="8477250" y="2502408"/>
            <a:ext cx="26670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ctr"/>
            <a:r>
              <a:rPr lang="zh-CN" sz="180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份共享画像</a:t>
            </a:r>
          </a:p>
        </p:txBody>
      </p:sp>
      <p:sp>
        <p:nvSpPr>
          <p:cNvPr id="0" name="t"/>
          <p:cNvSpPr txBox="1"/>
          <p:nvPr/>
        </p:nvSpPr>
        <p:spPr>
          <a:xfrm>
            <a:off x="8382000" y="2788158"/>
            <a:ext cx="28575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lnSpc>
              <a:spcPct val="160000"/>
            </a:lnSpc>
            <a:pPr algn="ctr"/>
            <a:r>
              <a:rPr lang="zh-CN" sz="125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五个角色读同一份「学生画像」</a:t>
            </a:r>
          </a:p>
          <a:p>
            <a:r>
              <a:rPr lang="zh-CN" sz="125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切换角色，它依然记得你</a:t>
            </a:r>
          </a:p>
        </p:txBody>
      </p:sp>
      <p:sp>
        <p:nvSpPr>
          <p:cNvPr id="0" name="s"/>
          <p:cNvSpPr/>
          <p:nvPr/>
        </p:nvSpPr>
        <p:spPr>
          <a:xfrm>
            <a:off x="571500" y="4305300"/>
            <a:ext cx="11049000" cy="533400"/>
          </a:xfrm>
          <a:prstGeom prst="roundRect">
            <a:avLst>
              <a:gd name="adj" fmla="val 21428"/>
            </a:avLst>
          </a:prstGeom>
          <a:solidFill>
            <a:srgbClr val="FF8A3D">
              <a:alpha val="8000"/>
            </a:srgbClr>
          </a:solidFill>
          <a:ln w="12700">
            <a:solidFill>
              <a:srgbClr val="FF8A3D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800100" y="4457700"/>
            <a:ext cx="10668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zh-CN" sz="1300" b="0" dirty="0">
                <a:solidFill>
                  <a:srgbClr val="FF8A3D"/>
                </a:solidFill>
                <a:latin typeface="Segoe UI Emoji"/>
                <a:ea typeface="Segoe UI Emoji"/>
                <a:cs typeface="Segoe UI Emoji"/>
              </a:rPr>
              <a:t>🔁 </a:t>
            </a:r>
            <a:r>
              <a:rPr lang="zh-CN" sz="1400" b="1" dirty="0">
                <a:solidFill>
                  <a:srgbClr val="FF8A3D"/>
                </a:solidFill>
                <a:latin typeface="Microsoft YaHei"/>
                <a:ea typeface="Microsoft YaHei"/>
                <a:cs typeface="Microsoft YaHei"/>
              </a:rPr>
              <a:t>PROFILE_UPDATE 协议</a:t>
            </a:r>
            <a:r>
              <a:rPr lang="zh-CN" sz="1400" b="0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：每次对话结束，AI 自动把新信息写进画像——所以换角色聊天，是从「它已经认识你」开始，而不是从零自我介绍。</a:t>
            </a:r>
          </a:p>
        </p:txBody>
      </p:sp>
      <p:sp>
        <p:nvSpPr>
          <p:cNvPr id="0" name="t"/>
          <p:cNvSpPr txBox="1"/>
          <p:nvPr/>
        </p:nvSpPr>
        <p:spPr>
          <a:xfrm>
            <a:off x="571500" y="655320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150" b="0" dirty="0">
                <a:solidFill>
                  <a:srgbClr val="93A3BF"/>
                </a:solidFill>
                <a:latin typeface="Consolas"/>
                <a:ea typeface="Consolas"/>
                <a:cs typeface="Consolas"/>
              </a:rPr>
              <a:t>AI 学习伙伴 · HACKATHON 2026</a:t>
            </a:r>
          </a:p>
        </p:txBody>
      </p:sp>
      <p:sp>
        <p:nvSpPr>
          <p:cNvPr id="0" name="t"/>
          <p:cNvSpPr txBox="1"/>
          <p:nvPr/>
        </p:nvSpPr>
        <p:spPr>
          <a:xfrm>
            <a:off x="10287000" y="6553200"/>
            <a:ext cx="1333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r"/>
            <a:r>
              <a:rPr lang="zh-CN" sz="1150" b="0" dirty="0">
                <a:solidFill>
                  <a:srgbClr val="93A3BF"/>
                </a:solidFill>
                <a:latin typeface="Consolas"/>
                <a:ea typeface="Consolas"/>
                <a:cs typeface="Consolas"/>
              </a:rPr>
              <a:t>03 / 15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8EC"/>
              </a:gs>
              <a:gs pos="100000">
                <a:srgbClr val="EDF5FF"/>
              </a:gs>
            </a:gsLst>
            <a:lin ang="27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8EC"/>
              </a:gs>
              <a:gs pos="100000">
                <a:srgbClr val="EDF5FF"/>
              </a:gs>
            </a:gsLst>
            <a:lin ang="27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8953500" y="-1524000"/>
            <a:ext cx="4381500" cy="4381500"/>
          </a:xfrm>
          <a:prstGeom prst="rect">
            <a:avLst/>
          </a:prstGeom>
          <a:gradFill rotWithShape="1">
            <a:gsLst>
              <a:gs pos="0">
                <a:srgbClr val="FFC58A">
                  <a:alpha val="38000"/>
                </a:srgbClr>
              </a:gs>
              <a:gs pos="70000">
                <a:srgbClr val="FFC58A">
                  <a:alpha val="0"/>
                </a:srgbClr>
              </a:gs>
              <a:gs pos="100000">
                <a:srgbClr val="FFC58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9239250" y="476250"/>
            <a:ext cx="2381250" cy="323850"/>
          </a:xfrm>
          <a:prstGeom prst="roundRect">
            <a:avLst>
              <a:gd name="adj" fmla="val 50000"/>
            </a:avLst>
          </a:prstGeom>
          <a:solidFill>
            <a:srgbClr val="FFF1E3"/>
          </a:solidFill>
          <a:ln w="12700">
            <a:solidFill>
              <a:srgbClr val="FF8A3D">
                <a:alpha val="100000"/>
              </a:srgbClr>
            </a:solidFill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9315450" y="476250"/>
            <a:ext cx="22288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zh-CN" sz="1200" b="1" dirty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☀️ 阳光模式实机</a:t>
            </a:r>
          </a:p>
        </p:txBody>
      </p:sp>
      <p:sp>
        <p:nvSpPr>
          <p:cNvPr id="0" name="t"/>
          <p:cNvSpPr txBox="1"/>
          <p:nvPr/>
        </p:nvSpPr>
        <p:spPr>
          <a:xfrm>
            <a:off x="571500" y="381000"/>
            <a:ext cx="6667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200" b="1" dirty="0" spc="300">
                <a:solidFill>
                  <a:srgbClr val="4C7DFF"/>
                </a:solidFill>
                <a:latin typeface="Consolas"/>
                <a:ea typeface="Consolas"/>
                <a:cs typeface="Consolas"/>
              </a:rPr>
              <a:t>03 · UI TOUR 1/5</a:t>
            </a:r>
          </a:p>
        </p:txBody>
      </p:sp>
      <p:sp>
        <p:nvSpPr>
          <p:cNvPr id="0" name="t"/>
          <p:cNvSpPr txBox="1"/>
          <p:nvPr/>
        </p:nvSpPr>
        <p:spPr>
          <a:xfrm>
            <a:off x="571500" y="609600"/>
            <a:ext cx="85725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320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先看界面：三秒上手的主界面</a:t>
            </a:r>
          </a:p>
        </p:txBody>
      </p:sp>
      <p:pic>
        <p:nvPicPr>
          <p:cNvPr id="0" name="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38250"/>
            <a:ext cx="6286500" cy="3924300"/>
          </a:xfrm>
          <a:prstGeom prst="roundRect">
            <a:avLst>
              <a:gd name="adj" fmla="val 2912"/>
            </a:avLst>
          </a:prstGeom>
          <a:ln w="12700">
            <a:solidFill>
              <a:srgbClr val="DFE7F6"/>
            </a:solidFill>
          </a:ln>
          <a:effectLst>
            <a:outerShdw blurRad="190500" dist="50800" dir="5400000" rotWithShape="0">
              <a:srgbClr val="0B1B3A">
                <a:alpha val="14000"/>
              </a:srgbClr>
            </a:outerShdw>
          </a:effectLst>
        </p:spPr>
      </p:pic>
      <p:sp>
        <p:nvSpPr>
          <p:cNvPr id="0" name="s"/>
          <p:cNvSpPr/>
          <p:nvPr/>
        </p:nvSpPr>
        <p:spPr>
          <a:xfrm>
            <a:off x="7143750" y="1428750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4C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7143750" y="1428750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0" name="t"/>
          <p:cNvSpPr txBox="1"/>
          <p:nvPr/>
        </p:nvSpPr>
        <p:spPr>
          <a:xfrm>
            <a:off x="7572375" y="1409700"/>
            <a:ext cx="4048125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55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左侧 · 五角色常驻导航</a:t>
            </a:r>
          </a:p>
        </p:txBody>
      </p:sp>
      <p:sp>
        <p:nvSpPr>
          <p:cNvPr id="0" name="t"/>
          <p:cNvSpPr txBox="1"/>
          <p:nvPr/>
        </p:nvSpPr>
        <p:spPr>
          <a:xfrm>
            <a:off x="7572375" y="1657350"/>
            <a:ext cx="4048125" cy="590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lnSpc>
              <a:spcPct val="160000"/>
            </a:lnSpc>
            <a:pPr algn="l"/>
            <a:r>
              <a:rPr lang="zh-CN" sz="125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切换角色，整个界面强调色跟着换——你随时知道自己「在和谁说话」。</a:t>
            </a:r>
          </a:p>
        </p:txBody>
      </p:sp>
      <p:sp>
        <p:nvSpPr>
          <p:cNvPr id="0" name="s"/>
          <p:cNvSpPr/>
          <p:nvPr/>
        </p:nvSpPr>
        <p:spPr>
          <a:xfrm>
            <a:off x="7143750" y="2400300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4C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7143750" y="2400300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0" name="t"/>
          <p:cNvSpPr txBox="1"/>
          <p:nvPr/>
        </p:nvSpPr>
        <p:spPr>
          <a:xfrm>
            <a:off x="7572375" y="2381250"/>
            <a:ext cx="4048125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55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中间 · 示例卡片破冰</a:t>
            </a:r>
          </a:p>
        </p:txBody>
      </p:sp>
      <p:sp>
        <p:nvSpPr>
          <p:cNvPr id="0" name="t"/>
          <p:cNvSpPr txBox="1"/>
          <p:nvPr/>
        </p:nvSpPr>
        <p:spPr>
          <a:xfrm>
            <a:off x="7572375" y="2628900"/>
            <a:ext cx="4048125" cy="590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lnSpc>
              <a:spcPct val="160000"/>
            </a:lnSpc>
            <a:pPr algn="l"/>
            <a:r>
              <a:rPr lang="zh-CN" sz="125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不知道问什么？点一张卡片就开聊，每个角色都有专属示例问题。</a:t>
            </a:r>
          </a:p>
        </p:txBody>
      </p:sp>
      <p:sp>
        <p:nvSpPr>
          <p:cNvPr id="0" name="s"/>
          <p:cNvSpPr/>
          <p:nvPr/>
        </p:nvSpPr>
        <p:spPr>
          <a:xfrm>
            <a:off x="7143750" y="3371850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4C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7143750" y="3371850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0" name="t"/>
          <p:cNvSpPr txBox="1"/>
          <p:nvPr/>
        </p:nvSpPr>
        <p:spPr>
          <a:xfrm>
            <a:off x="7572375" y="3352800"/>
            <a:ext cx="4048125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55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底部 · 快捷追问芯片</a:t>
            </a:r>
          </a:p>
        </p:txBody>
      </p:sp>
      <p:sp>
        <p:nvSpPr>
          <p:cNvPr id="0" name="t"/>
          <p:cNvSpPr txBox="1"/>
          <p:nvPr/>
        </p:nvSpPr>
        <p:spPr>
          <a:xfrm>
            <a:off x="7572375" y="3600450"/>
            <a:ext cx="4048125" cy="590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lnSpc>
              <a:spcPct val="160000"/>
            </a:lnSpc>
            <a:pPr algn="l"/>
            <a:r>
              <a:rPr lang="zh-CN" sz="125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一键「生成课件 / 生成习题 / 完善回答」，把一次回答变成一套复习资料。</a:t>
            </a:r>
          </a:p>
        </p:txBody>
      </p:sp>
      <p:sp>
        <p:nvSpPr>
          <p:cNvPr id="0" name="s"/>
          <p:cNvSpPr/>
          <p:nvPr/>
        </p:nvSpPr>
        <p:spPr>
          <a:xfrm>
            <a:off x="7143750" y="4400550"/>
            <a:ext cx="4476750" cy="857250"/>
          </a:xfrm>
          <a:prstGeom prst="roundRect">
            <a:avLst>
              <a:gd name="adj" fmla="val 13333"/>
            </a:avLst>
          </a:prstGeom>
          <a:solidFill>
            <a:srgbClr val="F1F6FF"/>
          </a:solidFill>
          <a:ln w="12700">
            <a:solidFill>
              <a:srgbClr val="DFE7F6">
                <a:alpha val="100000"/>
              </a:srgbClr>
            </a:solidFill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7315200" y="4552950"/>
            <a:ext cx="4133850" cy="590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lnSpc>
              <a:spcPct val="160000"/>
            </a:lnSpc>
            <a:pPr algn="l"/>
            <a:r>
              <a:rPr lang="zh-CN" sz="1200" b="1" dirty="0">
                <a:solidFill>
                  <a:srgbClr val="FF8A3D"/>
                </a:solidFill>
                <a:latin typeface="Microsoft YaHei"/>
                <a:ea typeface="Microsoft YaHei"/>
                <a:cs typeface="Microsoft YaHei"/>
              </a:rPr>
              <a:t>会话列表</a:t>
            </a:r>
            <a:r>
              <a:rPr lang="zh-CN" sz="120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 支持多会话并存、重命名与删除；画像按会话隔离，室友借用电脑也不串数据。</a:t>
            </a:r>
          </a:p>
        </p:txBody>
      </p:sp>
      <p:sp>
        <p:nvSpPr>
          <p:cNvPr id="0" name="t"/>
          <p:cNvSpPr txBox="1"/>
          <p:nvPr/>
        </p:nvSpPr>
        <p:spPr>
          <a:xfrm>
            <a:off x="571500" y="655320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150" b="0" dirty="0">
                <a:solidFill>
                  <a:srgbClr val="93A3BF"/>
                </a:solidFill>
                <a:latin typeface="Consolas"/>
                <a:ea typeface="Consolas"/>
                <a:cs typeface="Consolas"/>
              </a:rPr>
              <a:t>AI 学习伙伴 · HACKATHON 2026</a:t>
            </a:r>
          </a:p>
        </p:txBody>
      </p:sp>
      <p:sp>
        <p:nvSpPr>
          <p:cNvPr id="0" name="t"/>
          <p:cNvSpPr txBox="1"/>
          <p:nvPr/>
        </p:nvSpPr>
        <p:spPr>
          <a:xfrm>
            <a:off x="10287000" y="6553200"/>
            <a:ext cx="1333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r"/>
            <a:r>
              <a:rPr lang="zh-CN" sz="1150" b="0" dirty="0">
                <a:solidFill>
                  <a:srgbClr val="93A3BF"/>
                </a:solidFill>
                <a:latin typeface="Consolas"/>
                <a:ea typeface="Consolas"/>
                <a:cs typeface="Consolas"/>
              </a:rPr>
              <a:t>04 / 15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8EC"/>
              </a:gs>
              <a:gs pos="100000">
                <a:srgbClr val="EDF5FF"/>
              </a:gs>
            </a:gsLst>
            <a:lin ang="27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8EC"/>
              </a:gs>
              <a:gs pos="100000">
                <a:srgbClr val="EDF5FF"/>
              </a:gs>
            </a:gsLst>
            <a:lin ang="27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-1333500" y="-1524000"/>
            <a:ext cx="4381500" cy="4381500"/>
          </a:xfrm>
          <a:prstGeom prst="rect">
            <a:avLst/>
          </a:prstGeom>
          <a:gradFill rotWithShape="1">
            <a:gsLst>
              <a:gs pos="0">
                <a:srgbClr val="FFC58A">
                  <a:alpha val="38000"/>
                </a:srgbClr>
              </a:gs>
              <a:gs pos="70000">
                <a:srgbClr val="FFC58A">
                  <a:alpha val="0"/>
                </a:srgbClr>
              </a:gs>
              <a:gs pos="100000">
                <a:srgbClr val="FFC58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571500" y="381000"/>
            <a:ext cx="6667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200" b="1" dirty="0" spc="300">
                <a:solidFill>
                  <a:srgbClr val="4C7DFF"/>
                </a:solidFill>
                <a:latin typeface="Consolas"/>
                <a:ea typeface="Consolas"/>
                <a:cs typeface="Consolas"/>
              </a:rPr>
              <a:t>04 · UI TOUR 2/5</a:t>
            </a:r>
          </a:p>
        </p:txBody>
      </p:sp>
      <p:sp>
        <p:nvSpPr>
          <p:cNvPr id="0" name="t"/>
          <p:cNvSpPr txBox="1"/>
          <p:nvPr/>
        </p:nvSpPr>
        <p:spPr>
          <a:xfrm>
            <a:off x="571500" y="628650"/>
            <a:ext cx="85725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320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不跳步的推导，才是看得懂的回答</a:t>
            </a:r>
          </a:p>
        </p:txBody>
      </p:sp>
      <p:sp>
        <p:nvSpPr>
          <p:cNvPr id="0" name="s"/>
          <p:cNvSpPr/>
          <p:nvPr/>
        </p:nvSpPr>
        <p:spPr>
          <a:xfrm>
            <a:off x="9239250" y="476250"/>
            <a:ext cx="2381250" cy="32385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2700">
            <a:solidFill>
              <a:srgbClr val="4C7DFF">
                <a:alpha val="100000"/>
              </a:srgbClr>
            </a:solidFill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9315450" y="476250"/>
            <a:ext cx="22288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zh-CN" sz="1200" b="1" dirty="0">
                <a:solidFill>
                  <a:srgbClr val="2F5FE0"/>
                </a:solidFill>
                <a:latin typeface="Microsoft YaHei"/>
                <a:ea typeface="Microsoft YaHei"/>
                <a:cs typeface="Microsoft YaHei"/>
              </a:rPr>
              <a:t>✍️ 手搓推导，一步都不跳</a:t>
            </a:r>
          </a:p>
        </p:txBody>
      </p:sp>
      <p:pic>
        <p:nvPicPr>
          <p:cNvPr id="0" name="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1238250"/>
            <a:ext cx="6286500" cy="3924300"/>
          </a:xfrm>
          <a:prstGeom prst="roundRect">
            <a:avLst>
              <a:gd name="adj" fmla="val 2912"/>
            </a:avLst>
          </a:prstGeom>
          <a:ln w="12700">
            <a:solidFill>
              <a:srgbClr val="DFE7F6"/>
            </a:solidFill>
          </a:ln>
          <a:effectLst>
            <a:outerShdw blurRad="190500" dist="50800" dir="5400000" rotWithShape="0">
              <a:srgbClr val="0B1B3A">
                <a:alpha val="14000"/>
              </a:srgbClr>
            </a:outerShdw>
          </a:effectLst>
        </p:spPr>
      </p:pic>
      <p:sp>
        <p:nvSpPr>
          <p:cNvPr id="0" name="t"/>
          <p:cNvSpPr txBox="1"/>
          <p:nvPr/>
        </p:nvSpPr>
        <p:spPr>
          <a:xfrm>
            <a:off x="571500" y="1428750"/>
            <a:ext cx="2857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500" b="1" dirty="0">
                <a:solidFill>
                  <a:srgbClr val="4C7DFF"/>
                </a:solidFill>
                <a:latin typeface="Segoe UI Emoji"/>
                <a:ea typeface="Segoe UI Emoji"/>
                <a:cs typeface="Segoe UI Emoji"/>
              </a:rPr>
              <a:t>·</a:t>
            </a:r>
          </a:p>
        </p:txBody>
      </p:sp>
      <p:sp>
        <p:nvSpPr>
          <p:cNvPr id="0" name="t"/>
          <p:cNvSpPr txBox="1"/>
          <p:nvPr/>
        </p:nvSpPr>
        <p:spPr>
          <a:xfrm>
            <a:off x="914400" y="1409700"/>
            <a:ext cx="41338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55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分步推导，每步给理由</a:t>
            </a:r>
          </a:p>
        </p:txBody>
      </p:sp>
      <p:sp>
        <p:nvSpPr>
          <p:cNvPr id="0" name="t"/>
          <p:cNvSpPr txBox="1"/>
          <p:nvPr/>
        </p:nvSpPr>
        <p:spPr>
          <a:xfrm>
            <a:off x="914400" y="1657350"/>
            <a:ext cx="4133850" cy="590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lnSpc>
              <a:spcPct val="160000"/>
            </a:lnSpc>
            <a:pPr algn="l"/>
            <a:r>
              <a:rPr lang="zh-CN" sz="125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倍角公式降次 → 凑标准极限 → 取极限，每一步都写明「为什么可以这样做」。</a:t>
            </a:r>
          </a:p>
        </p:txBody>
      </p:sp>
      <p:sp>
        <p:nvSpPr>
          <p:cNvPr id="0" name="t"/>
          <p:cNvSpPr txBox="1"/>
          <p:nvPr/>
        </p:nvSpPr>
        <p:spPr>
          <a:xfrm>
            <a:off x="571500" y="2343150"/>
            <a:ext cx="2857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500" b="1" dirty="0">
                <a:solidFill>
                  <a:srgbClr val="FF8A3D"/>
                </a:solidFill>
                <a:latin typeface="Segoe UI Emoji"/>
                <a:ea typeface="Segoe UI Emoji"/>
                <a:cs typeface="Segoe UI Emoji"/>
              </a:rPr>
              <a:t>·</a:t>
            </a:r>
          </a:p>
        </p:txBody>
      </p:sp>
      <p:sp>
        <p:nvSpPr>
          <p:cNvPr id="0" name="t"/>
          <p:cNvSpPr txBox="1"/>
          <p:nvPr/>
        </p:nvSpPr>
        <p:spPr>
          <a:xfrm>
            <a:off x="914400" y="2324100"/>
            <a:ext cx="41338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55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思考链默认折叠</a:t>
            </a:r>
          </a:p>
        </p:txBody>
      </p:sp>
      <p:sp>
        <p:nvSpPr>
          <p:cNvPr id="0" name="t"/>
          <p:cNvSpPr txBox="1"/>
          <p:nvPr/>
        </p:nvSpPr>
        <p:spPr>
          <a:xfrm>
            <a:off x="914400" y="2571750"/>
            <a:ext cx="4133850" cy="590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lnSpc>
              <a:spcPct val="160000"/>
            </a:lnSpc>
            <a:pPr algn="l"/>
            <a:r>
              <a:rPr lang="zh-CN" sz="125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AI 的解题思路收进可展开的折叠框——想看门道再点开，不想看就不打扰。</a:t>
            </a:r>
          </a:p>
        </p:txBody>
      </p:sp>
      <p:sp>
        <p:nvSpPr>
          <p:cNvPr id="0" name="t"/>
          <p:cNvSpPr txBox="1"/>
          <p:nvPr/>
        </p:nvSpPr>
        <p:spPr>
          <a:xfrm>
            <a:off x="571500" y="3257550"/>
            <a:ext cx="2857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500" b="1" dirty="0">
                <a:solidFill>
                  <a:srgbClr val="4C7DFF"/>
                </a:solidFill>
                <a:latin typeface="Segoe UI Emoji"/>
                <a:ea typeface="Segoe UI Emoji"/>
                <a:cs typeface="Segoe UI Emoji"/>
              </a:rPr>
              <a:t>·</a:t>
            </a:r>
          </a:p>
        </p:txBody>
      </p:sp>
      <p:sp>
        <p:nvSpPr>
          <p:cNvPr id="0" name="t"/>
          <p:cNvSpPr txBox="1"/>
          <p:nvPr/>
        </p:nvSpPr>
        <p:spPr>
          <a:xfrm>
            <a:off x="914400" y="3238500"/>
            <a:ext cx="41338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55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【易错】【考点】直接高亮</a:t>
            </a:r>
          </a:p>
        </p:txBody>
      </p:sp>
      <p:sp>
        <p:nvSpPr>
          <p:cNvPr id="0" name="t"/>
          <p:cNvSpPr txBox="1"/>
          <p:nvPr/>
        </p:nvSpPr>
        <p:spPr>
          <a:xfrm>
            <a:off x="914400" y="3486150"/>
            <a:ext cx="4133850" cy="590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lnSpc>
              <a:spcPct val="160000"/>
            </a:lnSpc>
            <a:pPr algn="l"/>
            <a:r>
              <a:rPr lang="zh-CN" sz="125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期末复习直击高频失分点：等价无穷小只能用在乘除结构，这种坑标得清清楚楚。</a:t>
            </a:r>
          </a:p>
        </p:txBody>
      </p:sp>
      <p:sp>
        <p:nvSpPr>
          <p:cNvPr id="0" name="t"/>
          <p:cNvSpPr txBox="1"/>
          <p:nvPr/>
        </p:nvSpPr>
        <p:spPr>
          <a:xfrm>
            <a:off x="571500" y="4171950"/>
            <a:ext cx="2857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500" b="1" dirty="0">
                <a:solidFill>
                  <a:srgbClr val="FF8A3D"/>
                </a:solidFill>
                <a:latin typeface="Segoe UI Emoji"/>
                <a:ea typeface="Segoe UI Emoji"/>
                <a:cs typeface="Segoe UI Emoji"/>
              </a:rPr>
              <a:t>·</a:t>
            </a:r>
          </a:p>
        </p:txBody>
      </p:sp>
      <p:sp>
        <p:nvSpPr>
          <p:cNvPr id="0" name="t"/>
          <p:cNvSpPr txBox="1"/>
          <p:nvPr/>
        </p:nvSpPr>
        <p:spPr>
          <a:xfrm>
            <a:off x="914400" y="4152900"/>
            <a:ext cx="41338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55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一键追问，续上话题</a:t>
            </a:r>
          </a:p>
        </p:txBody>
      </p:sp>
      <p:sp>
        <p:nvSpPr>
          <p:cNvPr id="0" name="t"/>
          <p:cNvSpPr txBox="1"/>
          <p:nvPr/>
        </p:nvSpPr>
        <p:spPr>
          <a:xfrm>
            <a:off x="914400" y="4400550"/>
            <a:ext cx="4133850" cy="590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lnSpc>
              <a:spcPct val="160000"/>
            </a:lnSpc>
            <a:pPr algn="l"/>
            <a:r>
              <a:rPr lang="zh-CN" sz="125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生成课件 / 生成习题 / 完善回答——追问芯片让一次提问变成一套复习材料。</a:t>
            </a:r>
          </a:p>
        </p:txBody>
      </p:sp>
      <p:sp>
        <p:nvSpPr>
          <p:cNvPr id="0" name="s"/>
          <p:cNvSpPr/>
          <p:nvPr/>
        </p:nvSpPr>
        <p:spPr>
          <a:xfrm>
            <a:off x="571500" y="5029200"/>
            <a:ext cx="4476750" cy="819150"/>
          </a:xfrm>
          <a:prstGeom prst="roundRect">
            <a:avLst>
              <a:gd name="adj" fmla="val 13953"/>
            </a:avLst>
          </a:prstGeom>
          <a:solidFill>
            <a:srgbClr val="F1F6FF"/>
          </a:solidFill>
          <a:ln w="12700">
            <a:solidFill>
              <a:srgbClr val="DFE7F6">
                <a:alpha val="100000"/>
              </a:srgbClr>
            </a:solidFill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742950" y="5200650"/>
            <a:ext cx="413385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lnSpc>
              <a:spcPct val="150000"/>
            </a:lnSpc>
            <a:pPr algn="l"/>
            <a:r>
              <a:rPr lang="zh-CN" sz="1200" b="0" dirty="0">
                <a:solidFill>
                  <a:srgbClr val="5A6C88"/>
                </a:solidFill>
                <a:latin typeface="Consolas"/>
                <a:ea typeface="Consolas"/>
                <a:cs typeface="Consolas"/>
              </a:rPr>
              <a:t>lim(x→0) (1-cosx)/x² = 1/2</a:t>
            </a:r>
            <a:r>
              <a:rPr lang="zh-CN" sz="1200" b="0" dirty="0">
                <a:solidFill>
                  <a:srgbClr val="FF8A3D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r>
              <a:rPr lang="zh-CN" sz="1200" b="0" dirty="0">
                <a:solidFill>
                  <a:srgbClr val="FF8A3D"/>
                </a:solidFill>
                <a:latin typeface="Consolas"/>
                <a:ea typeface="Consolas"/>
                <a:cs typeface="Consolas"/>
              </a:rPr>
              <a:t>↑ 这道题的回答全文，见右侧实机截图</a:t>
            </a:r>
          </a:p>
        </p:txBody>
      </p:sp>
      <p:sp>
        <p:nvSpPr>
          <p:cNvPr id="0" name="t"/>
          <p:cNvSpPr txBox="1"/>
          <p:nvPr/>
        </p:nvSpPr>
        <p:spPr>
          <a:xfrm>
            <a:off x="571500" y="655320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150" b="0" dirty="0">
                <a:solidFill>
                  <a:srgbClr val="93A3BF"/>
                </a:solidFill>
                <a:latin typeface="Consolas"/>
                <a:ea typeface="Consolas"/>
                <a:cs typeface="Consolas"/>
              </a:rPr>
              <a:t>AI 学习伙伴 · HACKATHON 2026</a:t>
            </a:r>
          </a:p>
        </p:txBody>
      </p:sp>
      <p:sp>
        <p:nvSpPr>
          <p:cNvPr id="0" name="t"/>
          <p:cNvSpPr txBox="1"/>
          <p:nvPr/>
        </p:nvSpPr>
        <p:spPr>
          <a:xfrm>
            <a:off x="10287000" y="6553200"/>
            <a:ext cx="1333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r"/>
            <a:r>
              <a:rPr lang="zh-CN" sz="1150" b="0" dirty="0">
                <a:solidFill>
                  <a:srgbClr val="93A3BF"/>
                </a:solidFill>
                <a:latin typeface="Consolas"/>
                <a:ea typeface="Consolas"/>
                <a:cs typeface="Consolas"/>
              </a:rPr>
              <a:t>05 / 15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8EC"/>
              </a:gs>
              <a:gs pos="100000">
                <a:srgbClr val="EDF5FF"/>
              </a:gs>
            </a:gsLst>
            <a:lin ang="27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8EC"/>
              </a:gs>
              <a:gs pos="100000">
                <a:srgbClr val="EDF5FF"/>
              </a:gs>
            </a:gsLst>
            <a:lin ang="27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8953500" y="-1524000"/>
            <a:ext cx="4381500" cy="4381500"/>
          </a:xfrm>
          <a:prstGeom prst="rect">
            <a:avLst/>
          </a:prstGeom>
          <a:gradFill rotWithShape="1">
            <a:gsLst>
              <a:gs pos="0">
                <a:srgbClr val="FFC58A">
                  <a:alpha val="38000"/>
                </a:srgbClr>
              </a:gs>
              <a:gs pos="70000">
                <a:srgbClr val="FFC58A">
                  <a:alpha val="0"/>
                </a:srgbClr>
              </a:gs>
              <a:gs pos="100000">
                <a:srgbClr val="FFC58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571500" y="381000"/>
            <a:ext cx="6667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200" b="1" dirty="0" spc="300">
                <a:solidFill>
                  <a:srgbClr val="4C7DFF"/>
                </a:solidFill>
                <a:latin typeface="Consolas"/>
                <a:ea typeface="Consolas"/>
                <a:cs typeface="Consolas"/>
              </a:rPr>
              <a:t>05 · UI TOUR 3/5</a:t>
            </a:r>
          </a:p>
        </p:txBody>
      </p:sp>
      <p:sp>
        <p:nvSpPr>
          <p:cNvPr id="0" name="t"/>
          <p:cNvSpPr txBox="1"/>
          <p:nvPr/>
        </p:nvSpPr>
        <p:spPr>
          <a:xfrm>
            <a:off x="571500" y="628650"/>
            <a:ext cx="85725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320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它真的记得你：学生画像</a:t>
            </a:r>
          </a:p>
        </p:txBody>
      </p:sp>
      <p:sp>
        <p:nvSpPr>
          <p:cNvPr id="0" name="s"/>
          <p:cNvSpPr/>
          <p:nvPr/>
        </p:nvSpPr>
        <p:spPr>
          <a:xfrm>
            <a:off x="9239250" y="476250"/>
            <a:ext cx="2381250" cy="323850"/>
          </a:xfrm>
          <a:prstGeom prst="roundRect">
            <a:avLst>
              <a:gd name="adj" fmla="val 50000"/>
            </a:avLst>
          </a:prstGeom>
          <a:solidFill>
            <a:srgbClr val="FFF1E3"/>
          </a:solidFill>
          <a:ln w="12700">
            <a:solidFill>
              <a:srgbClr val="FF8A3D">
                <a:alpha val="100000"/>
              </a:srgbClr>
            </a:solidFill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9315450" y="476250"/>
            <a:ext cx="22288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zh-CN" sz="1200" b="1" dirty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🧬 越聊越懂你</a:t>
            </a:r>
          </a:p>
        </p:txBody>
      </p:sp>
      <p:pic>
        <p:nvPicPr>
          <p:cNvPr id="0" name="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1200150"/>
            <a:ext cx="6096000" cy="3810000"/>
          </a:xfrm>
          <a:prstGeom prst="roundRect">
            <a:avLst>
              <a:gd name="adj" fmla="val 3000"/>
            </a:avLst>
          </a:prstGeom>
          <a:ln w="12700">
            <a:solidFill>
              <a:srgbClr val="DFE7F6"/>
            </a:solidFill>
          </a:ln>
          <a:effectLst>
            <a:outerShdw blurRad="190500" dist="50800" dir="5400000" rotWithShape="0">
              <a:srgbClr val="0B1B3A">
                <a:alpha val="14000"/>
              </a:srgbClr>
            </a:outerShdw>
          </a:effectLst>
        </p:spPr>
      </p:pic>
      <p:sp>
        <p:nvSpPr>
          <p:cNvPr id="0" name="s"/>
          <p:cNvSpPr/>
          <p:nvPr/>
        </p:nvSpPr>
        <p:spPr>
          <a:xfrm>
            <a:off x="571500" y="5200650"/>
            <a:ext cx="5391150" cy="104775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FE7F6">
                <a:alpha val="100000"/>
              </a:srgbClr>
            </a:solidFill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742950" y="5391150"/>
            <a:ext cx="361950" cy="361950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742950" y="5391150"/>
            <a:ext cx="361950" cy="3619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zh-CN" sz="1596" b="0" dirty="0">
                <a:solidFill>
                  <a:srgbClr val="142B4A"/>
                </a:solidFill>
                <a:latin typeface="Segoe UI Emoji"/>
                <a:ea typeface="Segoe UI Emoji"/>
                <a:cs typeface="Segoe UI Emoji"/>
              </a:rPr>
              <a:t>🧬</a:t>
            </a:r>
          </a:p>
        </p:txBody>
      </p:sp>
      <p:sp>
        <p:nvSpPr>
          <p:cNvPr id="0" name="t"/>
          <p:cNvSpPr txBox="1"/>
          <p:nvPr/>
        </p:nvSpPr>
        <p:spPr>
          <a:xfrm>
            <a:off x="1238250" y="5353050"/>
            <a:ext cx="45720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50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五维画像 · 对话中自动沉淀</a:t>
            </a:r>
          </a:p>
        </p:txBody>
      </p:sp>
      <p:sp>
        <p:nvSpPr>
          <p:cNvPr id="0" name="t"/>
          <p:cNvSpPr txBox="1"/>
          <p:nvPr/>
        </p:nvSpPr>
        <p:spPr>
          <a:xfrm>
            <a:off x="1238250" y="5581650"/>
            <a:ext cx="4572000" cy="571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lnSpc>
              <a:spcPct val="158000"/>
            </a:lnSpc>
            <a:pPr algn="l"/>
            <a:r>
              <a:rPr lang="zh-CN" sz="125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学习 · 心理 · 生活规划 · 健康 · 消费——聊完自动抽取新信息写入（PROFILE_UPDATE 协议），无需手动填写。</a:t>
            </a:r>
          </a:p>
        </p:txBody>
      </p:sp>
      <p:sp>
        <p:nvSpPr>
          <p:cNvPr id="0" name="s"/>
          <p:cNvSpPr/>
          <p:nvPr/>
        </p:nvSpPr>
        <p:spPr>
          <a:xfrm>
            <a:off x="6229350" y="5200650"/>
            <a:ext cx="5391150" cy="104775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FF8A3D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6400800" y="5391150"/>
            <a:ext cx="361950" cy="361950"/>
          </a:xfrm>
          <a:prstGeom prst="roundRect">
            <a:avLst>
              <a:gd name="adj" fmla="val 28000"/>
            </a:avLst>
          </a:prstGeom>
          <a:solidFill>
            <a:srgbClr val="FF8A3D">
              <a:alpha val="84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6400800" y="5391150"/>
            <a:ext cx="361950" cy="3619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zh-CN" sz="1596" b="0" dirty="0">
                <a:solidFill>
                  <a:srgbClr val="142B4A"/>
                </a:solidFill>
                <a:latin typeface="Segoe UI Emoji"/>
                <a:ea typeface="Segoe UI Emoji"/>
                <a:cs typeface="Segoe UI Emoji"/>
              </a:rPr>
              <a:t>📈</a:t>
            </a:r>
          </a:p>
        </p:txBody>
      </p:sp>
      <p:sp>
        <p:nvSpPr>
          <p:cNvPr id="0" name="t"/>
          <p:cNvSpPr txBox="1"/>
          <p:nvPr/>
        </p:nvSpPr>
        <p:spPr>
          <a:xfrm>
            <a:off x="6896100" y="5353050"/>
            <a:ext cx="45720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50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完整度 65%，边聊边涨</a:t>
            </a:r>
          </a:p>
        </p:txBody>
      </p:sp>
      <p:sp>
        <p:nvSpPr>
          <p:cNvPr id="0" name="t"/>
          <p:cNvSpPr txBox="1"/>
          <p:nvPr/>
        </p:nvSpPr>
        <p:spPr>
          <a:xfrm>
            <a:off x="6896100" y="5581650"/>
            <a:ext cx="4572000" cy="571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lnSpc>
              <a:spcPct val="158000"/>
            </a:lnSpc>
            <a:pPr algn="l"/>
            <a:r>
              <a:rPr lang="zh-CN" sz="125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画像不是一次填完的配置表，而是「越聊越懂你」的可视化成长；仅存本机 localStorage，可一键清空。</a:t>
            </a:r>
          </a:p>
        </p:txBody>
      </p:sp>
      <p:sp>
        <p:nvSpPr>
          <p:cNvPr id="0" name="t"/>
          <p:cNvSpPr txBox="1"/>
          <p:nvPr/>
        </p:nvSpPr>
        <p:spPr>
          <a:xfrm>
            <a:off x="571500" y="655320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150" b="0" dirty="0">
                <a:solidFill>
                  <a:srgbClr val="93A3BF"/>
                </a:solidFill>
                <a:latin typeface="Consolas"/>
                <a:ea typeface="Consolas"/>
                <a:cs typeface="Consolas"/>
              </a:rPr>
              <a:t>AI 学习伙伴 · HACKATHON 2026</a:t>
            </a:r>
          </a:p>
        </p:txBody>
      </p:sp>
      <p:sp>
        <p:nvSpPr>
          <p:cNvPr id="0" name="t"/>
          <p:cNvSpPr txBox="1"/>
          <p:nvPr/>
        </p:nvSpPr>
        <p:spPr>
          <a:xfrm>
            <a:off x="10287000" y="6553200"/>
            <a:ext cx="1333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r"/>
            <a:r>
              <a:rPr lang="zh-CN" sz="1150" b="0" dirty="0">
                <a:solidFill>
                  <a:srgbClr val="93A3BF"/>
                </a:solidFill>
                <a:latin typeface="Consolas"/>
                <a:ea typeface="Consolas"/>
                <a:cs typeface="Consolas"/>
              </a:rPr>
              <a:t>06 / 15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8EC"/>
              </a:gs>
              <a:gs pos="100000">
                <a:srgbClr val="EDF5FF"/>
              </a:gs>
            </a:gsLst>
            <a:lin ang="27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8EC"/>
              </a:gs>
              <a:gs pos="100000">
                <a:srgbClr val="EDF5FF"/>
              </a:gs>
            </a:gsLst>
            <a:lin ang="27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-1333500" y="-1524000"/>
            <a:ext cx="4381500" cy="4381500"/>
          </a:xfrm>
          <a:prstGeom prst="rect">
            <a:avLst/>
          </a:prstGeom>
          <a:gradFill rotWithShape="1">
            <a:gsLst>
              <a:gs pos="0">
                <a:srgbClr val="9CC4FF">
                  <a:alpha val="38000"/>
                </a:srgbClr>
              </a:gs>
              <a:gs pos="70000">
                <a:srgbClr val="9CC4FF">
                  <a:alpha val="0"/>
                </a:srgbClr>
              </a:gs>
              <a:gs pos="100000">
                <a:srgbClr val="9CC4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571500" y="381000"/>
            <a:ext cx="6667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200" b="1" dirty="0" spc="300">
                <a:solidFill>
                  <a:srgbClr val="4C7DFF"/>
                </a:solidFill>
                <a:latin typeface="Consolas"/>
                <a:ea typeface="Consolas"/>
                <a:cs typeface="Consolas"/>
              </a:rPr>
              <a:t>06 · UI TOUR 4/5</a:t>
            </a:r>
          </a:p>
        </p:txBody>
      </p:sp>
      <p:sp>
        <p:nvSpPr>
          <p:cNvPr id="0" name="t"/>
          <p:cNvSpPr txBox="1"/>
          <p:nvPr/>
        </p:nvSpPr>
        <p:spPr>
          <a:xfrm>
            <a:off x="571500" y="628650"/>
            <a:ext cx="85725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320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切个角色，它还记得你刚说的话</a:t>
            </a:r>
          </a:p>
        </p:txBody>
      </p:sp>
      <p:sp>
        <p:nvSpPr>
          <p:cNvPr id="0" name="s"/>
          <p:cNvSpPr/>
          <p:nvPr/>
        </p:nvSpPr>
        <p:spPr>
          <a:xfrm>
            <a:off x="9239250" y="476250"/>
            <a:ext cx="2381250" cy="32385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2700">
            <a:solidFill>
              <a:srgbClr val="4C7DFF">
                <a:alpha val="100000"/>
              </a:srgbClr>
            </a:solidFill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9315450" y="476250"/>
            <a:ext cx="22288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zh-CN" sz="1200" b="1" dirty="0">
                <a:solidFill>
                  <a:srgbClr val="2F5FE0"/>
                </a:solidFill>
                <a:latin typeface="Microsoft YaHei"/>
                <a:ea typeface="Microsoft YaHei"/>
                <a:cs typeface="Microsoft YaHei"/>
              </a:rPr>
              <a:t>🔁 跨角色记忆，尊嘟假嘟</a:t>
            </a:r>
          </a:p>
        </p:txBody>
      </p:sp>
      <p:pic>
        <p:nvPicPr>
          <p:cNvPr id="0" name="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38250"/>
            <a:ext cx="6286500" cy="3924300"/>
          </a:xfrm>
          <a:prstGeom prst="roundRect">
            <a:avLst>
              <a:gd name="adj" fmla="val 2912"/>
            </a:avLst>
          </a:prstGeom>
          <a:ln w="12700">
            <a:solidFill>
              <a:srgbClr val="DFE7F6"/>
            </a:solidFill>
          </a:ln>
          <a:effectLst>
            <a:outerShdw blurRad="190500" dist="50800" dir="5400000" rotWithShape="0">
              <a:srgbClr val="0B1B3A">
                <a:alpha val="14000"/>
              </a:srgbClr>
            </a:outerShdw>
          </a:effectLst>
        </p:spPr>
      </p:pic>
      <p:sp>
        <p:nvSpPr>
          <p:cNvPr id="0" name="s"/>
          <p:cNvSpPr/>
          <p:nvPr/>
        </p:nvSpPr>
        <p:spPr>
          <a:xfrm>
            <a:off x="7143750" y="1333500"/>
            <a:ext cx="4476750" cy="1181100"/>
          </a:xfrm>
          <a:prstGeom prst="roundRect">
            <a:avLst>
              <a:gd name="adj" fmla="val 9677"/>
            </a:avLst>
          </a:prstGeom>
          <a:solidFill>
            <a:srgbClr val="4C7DFF">
              <a:alpha val="13000"/>
            </a:srgbClr>
          </a:solidFill>
          <a:ln w="12700">
            <a:solidFill>
              <a:srgbClr val="4C7DFF">
                <a:alpha val="100000"/>
              </a:srgbClr>
            </a:solidFill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7315200" y="1485900"/>
            <a:ext cx="41338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350" b="1" dirty="0">
                <a:solidFill>
                  <a:srgbClr val="2F5FE0"/>
                </a:solidFill>
                <a:latin typeface="Microsoft YaHei"/>
                <a:ea typeface="Microsoft YaHei"/>
                <a:cs typeface="Microsoft YaHei"/>
              </a:rPr>
              <a:t>截图中真实发生的事</a:t>
            </a:r>
          </a:p>
        </p:txBody>
      </p:sp>
      <p:sp>
        <p:nvSpPr>
          <p:cNvPr id="0" name="t"/>
          <p:cNvSpPr txBox="1"/>
          <p:nvPr/>
        </p:nvSpPr>
        <p:spPr>
          <a:xfrm>
            <a:off x="7315200" y="1714500"/>
            <a:ext cx="4133850" cy="704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lnSpc>
              <a:spcPct val="158000"/>
            </a:lnSpc>
            <a:pPr algn="l"/>
            <a:r>
              <a:rPr lang="zh-CN" sz="1250" b="0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刚在学科教师那里问了高数极限题——切到心理老师，顶部立刻弹出「还记得你刚说过的事」：压力来自期末复习、焦虑入睡困难、正在学极限与连续。</a:t>
            </a:r>
          </a:p>
        </p:txBody>
      </p:sp>
      <p:sp>
        <p:nvSpPr>
          <p:cNvPr id="0" name="t"/>
          <p:cNvSpPr txBox="1"/>
          <p:nvPr/>
        </p:nvSpPr>
        <p:spPr>
          <a:xfrm>
            <a:off x="7143750" y="2819400"/>
            <a:ext cx="2476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400" b="0" dirty="0">
                <a:solidFill>
                  <a:srgbClr val="142B4A"/>
                </a:solidFill>
                <a:latin typeface="Segoe UI Emoji"/>
                <a:ea typeface="Segoe UI Emoji"/>
                <a:cs typeface="Segoe UI Emoji"/>
              </a:rPr>
              <a:t>🔁</a:t>
            </a:r>
          </a:p>
        </p:txBody>
      </p:sp>
      <p:sp>
        <p:nvSpPr>
          <p:cNvPr id="0" name="t"/>
          <p:cNvSpPr txBox="1"/>
          <p:nvPr/>
        </p:nvSpPr>
        <p:spPr>
          <a:xfrm>
            <a:off x="7467600" y="2819400"/>
            <a:ext cx="4152900" cy="628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lnSpc>
              <a:spcPct val="162000"/>
            </a:lnSpc>
            <a:pPr algn="l"/>
            <a:r>
              <a:rPr lang="zh-CN" sz="125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跨角色记忆洞察：切换角色时主动引用画像里已有的信息，把「它记得我」变成看得见的体验。</a:t>
            </a:r>
          </a:p>
        </p:txBody>
      </p:sp>
      <p:sp>
        <p:nvSpPr>
          <p:cNvPr id="0" name="t"/>
          <p:cNvSpPr txBox="1"/>
          <p:nvPr/>
        </p:nvSpPr>
        <p:spPr>
          <a:xfrm>
            <a:off x="7143750" y="3543300"/>
            <a:ext cx="2476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400" b="0" dirty="0">
                <a:solidFill>
                  <a:srgbClr val="142B4A"/>
                </a:solidFill>
                <a:latin typeface="Segoe UI Emoji"/>
                <a:ea typeface="Segoe UI Emoji"/>
                <a:cs typeface="Segoe UI Emoji"/>
              </a:rPr>
              <a:t>🎨</a:t>
            </a:r>
          </a:p>
        </p:txBody>
      </p:sp>
      <p:sp>
        <p:nvSpPr>
          <p:cNvPr id="0" name="t"/>
          <p:cNvSpPr txBox="1"/>
          <p:nvPr/>
        </p:nvSpPr>
        <p:spPr>
          <a:xfrm>
            <a:off x="7467600" y="3543300"/>
            <a:ext cx="4152900" cy="628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lnSpc>
              <a:spcPct val="162000"/>
            </a:lnSpc>
            <a:pPr algn="l"/>
            <a:r>
              <a:rPr lang="zh-CN" sz="125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每个角色独立 System Prompt + 专属强调色——心理老师不帮写代码，学科教师不做情绪诊断。</a:t>
            </a:r>
          </a:p>
        </p:txBody>
      </p:sp>
      <p:sp>
        <p:nvSpPr>
          <p:cNvPr id="0" name="t"/>
          <p:cNvSpPr txBox="1"/>
          <p:nvPr/>
        </p:nvSpPr>
        <p:spPr>
          <a:xfrm>
            <a:off x="7143750" y="4267200"/>
            <a:ext cx="2476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400" b="0" dirty="0">
                <a:solidFill>
                  <a:srgbClr val="142B4A"/>
                </a:solidFill>
                <a:latin typeface="Segoe UI Emoji"/>
                <a:ea typeface="Segoe UI Emoji"/>
                <a:cs typeface="Segoe UI Emoji"/>
              </a:rPr>
              <a:t>🛡</a:t>
            </a:r>
          </a:p>
        </p:txBody>
      </p:sp>
      <p:sp>
        <p:nvSpPr>
          <p:cNvPr id="0" name="t"/>
          <p:cNvSpPr txBox="1"/>
          <p:nvPr/>
        </p:nvSpPr>
        <p:spPr>
          <a:xfrm>
            <a:off x="7467600" y="4267200"/>
            <a:ext cx="4152900" cy="628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lnSpc>
              <a:spcPct val="162000"/>
            </a:lnSpc>
            <a:pPr algn="l"/>
            <a:r>
              <a:rPr lang="zh-CN" sz="125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注意输入框上方的常驻提示条：心理陪伴不等于心理咨询——高风险角色自带免责声明。</a:t>
            </a:r>
          </a:p>
        </p:txBody>
      </p:sp>
      <p:sp>
        <p:nvSpPr>
          <p:cNvPr id="0" name="t"/>
          <p:cNvSpPr txBox="1"/>
          <p:nvPr/>
        </p:nvSpPr>
        <p:spPr>
          <a:xfrm>
            <a:off x="571500" y="655320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150" b="0" dirty="0">
                <a:solidFill>
                  <a:srgbClr val="93A3BF"/>
                </a:solidFill>
                <a:latin typeface="Consolas"/>
                <a:ea typeface="Consolas"/>
                <a:cs typeface="Consolas"/>
              </a:rPr>
              <a:t>AI 学习伙伴 · HACKATHON 2026</a:t>
            </a:r>
          </a:p>
        </p:txBody>
      </p:sp>
      <p:sp>
        <p:nvSpPr>
          <p:cNvPr id="0" name="t"/>
          <p:cNvSpPr txBox="1"/>
          <p:nvPr/>
        </p:nvSpPr>
        <p:spPr>
          <a:xfrm>
            <a:off x="10287000" y="6553200"/>
            <a:ext cx="1333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r"/>
            <a:r>
              <a:rPr lang="zh-CN" sz="1150" b="0" dirty="0">
                <a:solidFill>
                  <a:srgbClr val="93A3BF"/>
                </a:solidFill>
                <a:latin typeface="Consolas"/>
                <a:ea typeface="Consolas"/>
                <a:cs typeface="Consolas"/>
              </a:rPr>
              <a:t>07 / 15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8EC"/>
              </a:gs>
              <a:gs pos="100000">
                <a:srgbClr val="EDF5FF"/>
              </a:gs>
            </a:gsLst>
            <a:lin ang="27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8EC"/>
              </a:gs>
              <a:gs pos="100000">
                <a:srgbClr val="EDF5FF"/>
              </a:gs>
            </a:gsLst>
            <a:lin ang="27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3619500" y="-1714500"/>
            <a:ext cx="5334000" cy="5334000"/>
          </a:xfrm>
          <a:prstGeom prst="rect">
            <a:avLst/>
          </a:prstGeom>
          <a:gradFill rotWithShape="1">
            <a:gsLst>
              <a:gs pos="0">
                <a:srgbClr val="FFC58A">
                  <a:alpha val="38000"/>
                </a:srgbClr>
              </a:gs>
              <a:gs pos="70000">
                <a:srgbClr val="FFC58A">
                  <a:alpha val="0"/>
                </a:srgbClr>
              </a:gs>
              <a:gs pos="100000">
                <a:srgbClr val="FFC58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571500" y="381000"/>
            <a:ext cx="6667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200" b="1" dirty="0" spc="300">
                <a:solidFill>
                  <a:srgbClr val="4C7DFF"/>
                </a:solidFill>
                <a:latin typeface="Consolas"/>
                <a:ea typeface="Consolas"/>
                <a:cs typeface="Consolas"/>
              </a:rPr>
              <a:t>07 · 五大角色</a:t>
            </a:r>
          </a:p>
        </p:txBody>
      </p:sp>
      <p:sp>
        <p:nvSpPr>
          <p:cNvPr id="0" name="t"/>
          <p:cNvSpPr txBox="1"/>
          <p:nvPr/>
        </p:nvSpPr>
        <p:spPr>
          <a:xfrm>
            <a:off x="571500" y="628650"/>
            <a:ext cx="85725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320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五个角色，各有专业边界</a:t>
            </a:r>
          </a:p>
        </p:txBody>
      </p:sp>
      <p:sp>
        <p:nvSpPr>
          <p:cNvPr id="0" name="s"/>
          <p:cNvSpPr/>
          <p:nvPr/>
        </p:nvSpPr>
        <p:spPr>
          <a:xfrm>
            <a:off x="9239250" y="476250"/>
            <a:ext cx="2381250" cy="323850"/>
          </a:xfrm>
          <a:prstGeom prst="roundRect">
            <a:avLst>
              <a:gd name="adj" fmla="val 50000"/>
            </a:avLst>
          </a:prstGeom>
          <a:solidFill>
            <a:srgbClr val="FFF1E3"/>
          </a:solidFill>
          <a:ln w="12700">
            <a:solidFill>
              <a:srgbClr val="FF8A3D">
                <a:alpha val="100000"/>
              </a:srgbClr>
            </a:solidFill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9315450" y="476250"/>
            <a:ext cx="22288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zh-CN" sz="1200" b="1" dirty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🖐️ 五个搭子，随叫随到</a:t>
            </a:r>
          </a:p>
        </p:txBody>
      </p:sp>
      <p:sp>
        <p:nvSpPr>
          <p:cNvPr id="0" name="s"/>
          <p:cNvSpPr/>
          <p:nvPr/>
        </p:nvSpPr>
        <p:spPr>
          <a:xfrm>
            <a:off x="571500" y="1104900"/>
            <a:ext cx="2114550" cy="3733800"/>
          </a:xfrm>
          <a:prstGeom prst="roundRect">
            <a:avLst>
              <a:gd name="adj" fmla="val 6306"/>
            </a:avLst>
          </a:prstGeom>
          <a:solidFill>
            <a:srgbClr val="FFFFFF"/>
          </a:solidFill>
          <a:ln w="12700">
            <a:solidFill>
              <a:srgbClr val="DFE7F6">
                <a:alpha val="100000"/>
              </a:srgbClr>
            </a:solidFill>
          </a:ln>
          <a:effectLst>
            <a:outerShdw blurRad="190500" dist="50800" dir="5400000" rotWithShape="0">
              <a:srgbClr val="0B1B3A">
                <a:alpha val="14000"/>
              </a:srgbClr>
            </a:outerShdw>
          </a:effectLst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723900" y="1257300"/>
            <a:ext cx="419100" cy="419100"/>
          </a:xfrm>
          <a:prstGeom prst="roundRect">
            <a:avLst>
              <a:gd name="adj" fmla="val 28000"/>
            </a:avLst>
          </a:prstGeom>
          <a:solidFill>
            <a:srgbClr val="4C7DFF">
              <a:alpha val="8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723900" y="1257300"/>
            <a:ext cx="419100" cy="419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zh-CN" sz="1848" b="0" dirty="0">
                <a:solidFill>
                  <a:srgbClr val="142B4A"/>
                </a:solidFill>
                <a:latin typeface="Segoe UI Emoji"/>
                <a:ea typeface="Segoe UI Emoji"/>
                <a:cs typeface="Segoe UI Emoji"/>
              </a:rPr>
              <a:t>📚</a:t>
            </a:r>
          </a:p>
        </p:txBody>
      </p:sp>
      <p:sp>
        <p:nvSpPr>
          <p:cNvPr id="0" name="t"/>
          <p:cNvSpPr txBox="1"/>
          <p:nvPr/>
        </p:nvSpPr>
        <p:spPr>
          <a:xfrm>
            <a:off x="723900" y="1790700"/>
            <a:ext cx="18097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60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学科教师</a:t>
            </a:r>
          </a:p>
        </p:txBody>
      </p:sp>
      <p:sp>
        <p:nvSpPr>
          <p:cNvPr id="0" name="t"/>
          <p:cNvSpPr txBox="1"/>
          <p:nvPr/>
        </p:nvSpPr>
        <p:spPr>
          <a:xfrm>
            <a:off x="723900" y="2038350"/>
            <a:ext cx="18097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050" b="1" dirty="0">
                <a:solidFill>
                  <a:srgbClr val="4C7DFF"/>
                </a:solidFill>
                <a:latin typeface="Consolas"/>
                <a:ea typeface="Consolas"/>
                <a:cs typeface="Consolas"/>
              </a:rPr>
              <a:t>高数 · C / Python / Java</a:t>
            </a:r>
          </a:p>
        </p:txBody>
      </p:sp>
      <p:sp>
        <p:nvSpPr>
          <p:cNvPr id="0" name="t"/>
          <p:cNvSpPr txBox="1"/>
          <p:nvPr/>
        </p:nvSpPr>
        <p:spPr>
          <a:xfrm>
            <a:off x="723900" y="2286000"/>
            <a:ext cx="1809750" cy="23812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lnSpc>
              <a:spcPct val="172000"/>
            </a:lnSpc>
            <a:pPr algn="l"/>
            <a:r>
              <a:rPr lang="zh-CN" sz="120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· 分点推导不跳步，标注易错考点</a:t>
            </a:r>
          </a:p>
          <a:p>
            <a:r>
              <a:rPr lang="zh-CN" sz="120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· 代码逐行解释，指出新手坑</a:t>
            </a:r>
          </a:p>
          <a:p>
            <a:r>
              <a:rPr lang="zh-CN" sz="120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· 纯文本公式，离线可读</a:t>
            </a:r>
          </a:p>
          <a:p>
            <a:r>
              <a:rPr lang="zh-CN" sz="120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· 不懂直说，绝不硬答</a:t>
            </a:r>
          </a:p>
        </p:txBody>
      </p:sp>
      <p:sp>
        <p:nvSpPr>
          <p:cNvPr id="0" name="s"/>
          <p:cNvSpPr/>
          <p:nvPr/>
        </p:nvSpPr>
        <p:spPr>
          <a:xfrm>
            <a:off x="2800350" y="1104900"/>
            <a:ext cx="2114550" cy="3733800"/>
          </a:xfrm>
          <a:prstGeom prst="roundRect">
            <a:avLst>
              <a:gd name="adj" fmla="val 6306"/>
            </a:avLst>
          </a:prstGeom>
          <a:solidFill>
            <a:srgbClr val="FFFFFF"/>
          </a:solidFill>
          <a:ln w="12700">
            <a:solidFill>
              <a:srgbClr val="DFE7F6">
                <a:alpha val="100000"/>
              </a:srgbClr>
            </a:solidFill>
          </a:ln>
          <a:effectLst>
            <a:outerShdw blurRad="190500" dist="50800" dir="5400000" rotWithShape="0">
              <a:srgbClr val="0B1B3A">
                <a:alpha val="14000"/>
              </a:srgbClr>
            </a:outerShdw>
          </a:effectLst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2952750" y="1257300"/>
            <a:ext cx="419100" cy="419100"/>
          </a:xfrm>
          <a:prstGeom prst="roundRect">
            <a:avLst>
              <a:gd name="adj" fmla="val 28000"/>
            </a:avLst>
          </a:prstGeom>
          <a:solidFill>
            <a:srgbClr val="FF8A3D">
              <a:alpha val="8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2952750" y="1257300"/>
            <a:ext cx="419100" cy="419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zh-CN" sz="1848" b="0" dirty="0">
                <a:solidFill>
                  <a:srgbClr val="142B4A"/>
                </a:solidFill>
                <a:latin typeface="Segoe UI Emoji"/>
                <a:ea typeface="Segoe UI Emoji"/>
                <a:cs typeface="Segoe UI Emoji"/>
              </a:rPr>
              <a:t>🌿</a:t>
            </a:r>
          </a:p>
        </p:txBody>
      </p:sp>
      <p:sp>
        <p:nvSpPr>
          <p:cNvPr id="0" name="t"/>
          <p:cNvSpPr txBox="1"/>
          <p:nvPr/>
        </p:nvSpPr>
        <p:spPr>
          <a:xfrm>
            <a:off x="2952750" y="1790700"/>
            <a:ext cx="18097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60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心理老师</a:t>
            </a:r>
          </a:p>
        </p:txBody>
      </p:sp>
      <p:sp>
        <p:nvSpPr>
          <p:cNvPr id="0" name="t"/>
          <p:cNvSpPr txBox="1"/>
          <p:nvPr/>
        </p:nvSpPr>
        <p:spPr>
          <a:xfrm>
            <a:off x="2952750" y="2038350"/>
            <a:ext cx="18097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050" b="1" dirty="0">
                <a:solidFill>
                  <a:srgbClr val="FF8A3D"/>
                </a:solidFill>
                <a:latin typeface="Consolas"/>
                <a:ea typeface="Consolas"/>
                <a:cs typeface="Consolas"/>
              </a:rPr>
              <a:t>情绪陪伴 · 压力疏导</a:t>
            </a:r>
          </a:p>
        </p:txBody>
      </p:sp>
      <p:sp>
        <p:nvSpPr>
          <p:cNvPr id="0" name="t"/>
          <p:cNvSpPr txBox="1"/>
          <p:nvPr/>
        </p:nvSpPr>
        <p:spPr>
          <a:xfrm>
            <a:off x="2952750" y="2286000"/>
            <a:ext cx="1809750" cy="23812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lnSpc>
              <a:spcPct val="172000"/>
            </a:lnSpc>
            <a:pPr algn="l"/>
            <a:r>
              <a:rPr lang="zh-CN" sz="120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· 学业 / 人际 / 自我怀疑都能聊</a:t>
            </a:r>
          </a:p>
          <a:p>
            <a:r>
              <a:rPr lang="zh-CN" sz="120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· 读取画像，个性化回应</a:t>
            </a:r>
          </a:p>
          <a:p>
            <a:r>
              <a:rPr lang="zh-CN" sz="120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· 不做临床诊断、不开药</a:t>
            </a:r>
          </a:p>
          <a:p>
            <a:r>
              <a:rPr lang="zh-CN" sz="120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· 危机时立即推送干预热线</a:t>
            </a:r>
          </a:p>
        </p:txBody>
      </p:sp>
      <p:sp>
        <p:nvSpPr>
          <p:cNvPr id="0" name="s"/>
          <p:cNvSpPr/>
          <p:nvPr/>
        </p:nvSpPr>
        <p:spPr>
          <a:xfrm>
            <a:off x="5029200" y="1104900"/>
            <a:ext cx="2114550" cy="3733800"/>
          </a:xfrm>
          <a:prstGeom prst="roundRect">
            <a:avLst>
              <a:gd name="adj" fmla="val 6306"/>
            </a:avLst>
          </a:prstGeom>
          <a:solidFill>
            <a:srgbClr val="FFFFFF"/>
          </a:solidFill>
          <a:ln w="12700">
            <a:solidFill>
              <a:srgbClr val="DFE7F6">
                <a:alpha val="100000"/>
              </a:srgbClr>
            </a:solidFill>
          </a:ln>
          <a:effectLst>
            <a:outerShdw blurRad="190500" dist="50800" dir="5400000" rotWithShape="0">
              <a:srgbClr val="0B1B3A">
                <a:alpha val="14000"/>
              </a:srgbClr>
            </a:outerShdw>
          </a:effectLst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5181600" y="1257300"/>
            <a:ext cx="419100" cy="419100"/>
          </a:xfrm>
          <a:prstGeom prst="roundRect">
            <a:avLst>
              <a:gd name="adj" fmla="val 28000"/>
            </a:avLst>
          </a:prstGeom>
          <a:solidFill>
            <a:srgbClr val="4C7DFF">
              <a:alpha val="8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5181600" y="1257300"/>
            <a:ext cx="419100" cy="419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zh-CN" sz="1848" b="0" dirty="0">
                <a:solidFill>
                  <a:srgbClr val="142B4A"/>
                </a:solidFill>
                <a:latin typeface="Segoe UI Emoji"/>
                <a:ea typeface="Segoe UI Emoji"/>
                <a:cs typeface="Segoe UI Emoji"/>
              </a:rPr>
              <a:t>📅</a:t>
            </a:r>
          </a:p>
        </p:txBody>
      </p:sp>
      <p:sp>
        <p:nvSpPr>
          <p:cNvPr id="0" name="t"/>
          <p:cNvSpPr txBox="1"/>
          <p:nvPr/>
        </p:nvSpPr>
        <p:spPr>
          <a:xfrm>
            <a:off x="5181600" y="1790700"/>
            <a:ext cx="18097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60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生活规划</a:t>
            </a:r>
          </a:p>
        </p:txBody>
      </p:sp>
      <p:sp>
        <p:nvSpPr>
          <p:cNvPr id="0" name="t"/>
          <p:cNvSpPr txBox="1"/>
          <p:nvPr/>
        </p:nvSpPr>
        <p:spPr>
          <a:xfrm>
            <a:off x="5181600" y="2038350"/>
            <a:ext cx="18097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050" b="1" dirty="0">
                <a:solidFill>
                  <a:srgbClr val="4C7DFF"/>
                </a:solidFill>
                <a:latin typeface="Consolas"/>
                <a:ea typeface="Consolas"/>
                <a:cs typeface="Consolas"/>
              </a:rPr>
              <a:t>考研 · 考公 · 就业</a:t>
            </a:r>
          </a:p>
        </p:txBody>
      </p:sp>
      <p:sp>
        <p:nvSpPr>
          <p:cNvPr id="0" name="t"/>
          <p:cNvSpPr txBox="1"/>
          <p:nvPr/>
        </p:nvSpPr>
        <p:spPr>
          <a:xfrm>
            <a:off x="5181600" y="2286000"/>
            <a:ext cx="1809750" cy="23812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lnSpc>
              <a:spcPct val="172000"/>
            </a:lnSpc>
            <a:pPr algn="l"/>
            <a:r>
              <a:rPr lang="zh-CN" sz="120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· 结合课表与短板出路线图</a:t>
            </a:r>
          </a:p>
          <a:p>
            <a:r>
              <a:rPr lang="zh-CN" sz="120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· 缺关键信息先追问再规划</a:t>
            </a:r>
          </a:p>
          <a:p>
            <a:r>
              <a:rPr lang="zh-CN" sz="120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· 拒绝通用模板式建议</a:t>
            </a:r>
          </a:p>
          <a:p>
            <a:r>
              <a:rPr lang="zh-CN" sz="120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· 期末周日程能落到每天</a:t>
            </a:r>
          </a:p>
        </p:txBody>
      </p:sp>
      <p:sp>
        <p:nvSpPr>
          <p:cNvPr id="0" name="s"/>
          <p:cNvSpPr/>
          <p:nvPr/>
        </p:nvSpPr>
        <p:spPr>
          <a:xfrm>
            <a:off x="7267575" y="1104900"/>
            <a:ext cx="2114550" cy="3733800"/>
          </a:xfrm>
          <a:prstGeom prst="roundRect">
            <a:avLst>
              <a:gd name="adj" fmla="val 6306"/>
            </a:avLst>
          </a:prstGeom>
          <a:solidFill>
            <a:srgbClr val="FFFFFF"/>
          </a:solidFill>
          <a:ln w="12700">
            <a:solidFill>
              <a:srgbClr val="DFE7F6">
                <a:alpha val="100000"/>
              </a:srgbClr>
            </a:solidFill>
          </a:ln>
          <a:effectLst>
            <a:outerShdw blurRad="190500" dist="50800" dir="5400000" rotWithShape="0">
              <a:srgbClr val="0B1B3A">
                <a:alpha val="14000"/>
              </a:srgbClr>
            </a:outerShdw>
          </a:effectLst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7419975" y="1257300"/>
            <a:ext cx="419100" cy="419100"/>
          </a:xfrm>
          <a:prstGeom prst="roundRect">
            <a:avLst>
              <a:gd name="adj" fmla="val 28000"/>
            </a:avLst>
          </a:prstGeom>
          <a:solidFill>
            <a:srgbClr val="FF8A3D">
              <a:alpha val="8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7419975" y="1257300"/>
            <a:ext cx="419100" cy="419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zh-CN" sz="1848" b="0" dirty="0">
                <a:solidFill>
                  <a:srgbClr val="142B4A"/>
                </a:solidFill>
                <a:latin typeface="Segoe UI Emoji"/>
                <a:ea typeface="Segoe UI Emoji"/>
                <a:cs typeface="Segoe UI Emoji"/>
              </a:rPr>
              <a:t>💚</a:t>
            </a:r>
          </a:p>
        </p:txBody>
      </p:sp>
      <p:sp>
        <p:nvSpPr>
          <p:cNvPr id="0" name="t"/>
          <p:cNvSpPr txBox="1"/>
          <p:nvPr/>
        </p:nvSpPr>
        <p:spPr>
          <a:xfrm>
            <a:off x="7419975" y="1790700"/>
            <a:ext cx="18097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60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健康助手</a:t>
            </a:r>
          </a:p>
        </p:txBody>
      </p:sp>
      <p:sp>
        <p:nvSpPr>
          <p:cNvPr id="0" name="t"/>
          <p:cNvSpPr txBox="1"/>
          <p:nvPr/>
        </p:nvSpPr>
        <p:spPr>
          <a:xfrm>
            <a:off x="7419975" y="2038350"/>
            <a:ext cx="18097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050" b="1" dirty="0">
                <a:solidFill>
                  <a:srgbClr val="FF8A3D"/>
                </a:solidFill>
                <a:latin typeface="Consolas"/>
                <a:ea typeface="Consolas"/>
                <a:cs typeface="Consolas"/>
              </a:rPr>
              <a:t>作息 · 饮食 · 运动</a:t>
            </a:r>
          </a:p>
        </p:txBody>
      </p:sp>
      <p:sp>
        <p:nvSpPr>
          <p:cNvPr id="0" name="t"/>
          <p:cNvSpPr txBox="1"/>
          <p:nvPr/>
        </p:nvSpPr>
        <p:spPr>
          <a:xfrm>
            <a:off x="7419975" y="2286000"/>
            <a:ext cx="1809750" cy="23812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lnSpc>
              <a:spcPct val="172000"/>
            </a:lnSpc>
            <a:pPr algn="l"/>
            <a:r>
              <a:rPr lang="zh-CN" sz="120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· 熬夜脱发、颈椎久坐有建议</a:t>
            </a:r>
          </a:p>
          <a:p>
            <a:r>
              <a:rPr lang="zh-CN" sz="120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· 结合睡眠饮食画像给方案</a:t>
            </a:r>
          </a:p>
          <a:p>
            <a:r>
              <a:rPr lang="zh-CN" sz="120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· 不做诊断、不开药</a:t>
            </a:r>
          </a:p>
          <a:p>
            <a:r>
              <a:rPr lang="zh-CN" sz="120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· 症状加重建议线下就医</a:t>
            </a:r>
          </a:p>
        </p:txBody>
      </p:sp>
      <p:sp>
        <p:nvSpPr>
          <p:cNvPr id="0" name="s"/>
          <p:cNvSpPr/>
          <p:nvPr/>
        </p:nvSpPr>
        <p:spPr>
          <a:xfrm>
            <a:off x="9496425" y="1104900"/>
            <a:ext cx="2114550" cy="3733800"/>
          </a:xfrm>
          <a:prstGeom prst="roundRect">
            <a:avLst>
              <a:gd name="adj" fmla="val 6306"/>
            </a:avLst>
          </a:prstGeom>
          <a:solidFill>
            <a:srgbClr val="FFFFFF"/>
          </a:solidFill>
          <a:ln w="12700">
            <a:solidFill>
              <a:srgbClr val="DFE7F6">
                <a:alpha val="100000"/>
              </a:srgbClr>
            </a:solidFill>
          </a:ln>
          <a:effectLst>
            <a:outerShdw blurRad="190500" dist="50800" dir="5400000" rotWithShape="0">
              <a:srgbClr val="0B1B3A">
                <a:alpha val="14000"/>
              </a:srgbClr>
            </a:outerShdw>
          </a:effectLst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9648825" y="1257300"/>
            <a:ext cx="419100" cy="419100"/>
          </a:xfrm>
          <a:prstGeom prst="roundRect">
            <a:avLst>
              <a:gd name="adj" fmla="val 28000"/>
            </a:avLst>
          </a:prstGeom>
          <a:solidFill>
            <a:srgbClr val="4C7DFF">
              <a:alpha val="8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9648825" y="1257300"/>
            <a:ext cx="419100" cy="419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zh-CN" sz="1848" b="0" dirty="0">
                <a:solidFill>
                  <a:srgbClr val="142B4A"/>
                </a:solidFill>
                <a:latin typeface="Segoe UI Emoji"/>
                <a:ea typeface="Segoe UI Emoji"/>
                <a:cs typeface="Segoe UI Emoji"/>
              </a:rPr>
              <a:t>💰</a:t>
            </a:r>
          </a:p>
        </p:txBody>
      </p:sp>
      <p:sp>
        <p:nvSpPr>
          <p:cNvPr id="0" name="t"/>
          <p:cNvSpPr txBox="1"/>
          <p:nvPr/>
        </p:nvSpPr>
        <p:spPr>
          <a:xfrm>
            <a:off x="9648825" y="1790700"/>
            <a:ext cx="18097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60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理财助手</a:t>
            </a:r>
          </a:p>
        </p:txBody>
      </p:sp>
      <p:sp>
        <p:nvSpPr>
          <p:cNvPr id="0" name="t"/>
          <p:cNvSpPr txBox="1"/>
          <p:nvPr/>
        </p:nvSpPr>
        <p:spPr>
          <a:xfrm>
            <a:off x="9648825" y="2038350"/>
            <a:ext cx="18097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050" b="1" dirty="0">
                <a:solidFill>
                  <a:srgbClr val="4C7DFF"/>
                </a:solidFill>
                <a:latin typeface="Consolas"/>
                <a:ea typeface="Consolas"/>
                <a:cs typeface="Consolas"/>
              </a:rPr>
              <a:t>生活费 · 消费观念</a:t>
            </a:r>
          </a:p>
        </p:txBody>
      </p:sp>
      <p:sp>
        <p:nvSpPr>
          <p:cNvPr id="0" name="t"/>
          <p:cNvSpPr txBox="1"/>
          <p:nvPr/>
        </p:nvSpPr>
        <p:spPr>
          <a:xfrm>
            <a:off x="9648825" y="2286000"/>
            <a:ext cx="1809750" cy="23812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lnSpc>
              <a:spcPct val="172000"/>
            </a:lnSpc>
            <a:pPr algn="l"/>
            <a:r>
              <a:rPr lang="zh-CN" sz="120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· 生活费分区，告别月光</a:t>
            </a:r>
          </a:p>
          <a:p>
            <a:r>
              <a:rPr lang="zh-CN" sz="120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· 校园消费防坑、反诈提醒</a:t>
            </a:r>
          </a:p>
          <a:p>
            <a:r>
              <a:rPr lang="zh-CN" sz="120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· 只谈消费观念引导</a:t>
            </a:r>
          </a:p>
          <a:p>
            <a:r>
              <a:rPr lang="zh-CN" sz="120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· 不推荐任何理财产品</a:t>
            </a:r>
          </a:p>
        </p:txBody>
      </p:sp>
      <p:sp>
        <p:nvSpPr>
          <p:cNvPr id="0" name="s"/>
          <p:cNvSpPr/>
          <p:nvPr/>
        </p:nvSpPr>
        <p:spPr>
          <a:xfrm>
            <a:off x="571500" y="5010150"/>
            <a:ext cx="11049000" cy="476250"/>
          </a:xfrm>
          <a:prstGeom prst="roundRect">
            <a:avLst>
              <a:gd name="adj" fmla="val 24000"/>
            </a:avLst>
          </a:prstGeom>
          <a:solidFill>
            <a:srgbClr val="4C7DFF">
              <a:alpha val="12000"/>
            </a:srgbClr>
          </a:solidFill>
          <a:ln w="12700">
            <a:solidFill>
              <a:srgbClr val="4C7DFF">
                <a:alpha val="100000"/>
              </a:srgbClr>
            </a:solidFill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800100" y="514350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zh-CN" sz="1300" b="0" dirty="0">
                <a:solidFill>
                  <a:srgbClr val="FF8A3D"/>
                </a:solidFill>
                <a:latin typeface="Segoe UI Emoji"/>
                <a:ea typeface="Segoe UI Emoji"/>
                <a:cs typeface="Segoe UI Emoji"/>
              </a:rPr>
              <a:t>🛡 </a:t>
            </a:r>
            <a:r>
              <a:rPr lang="zh-CN" sz="1350" b="1" dirty="0">
                <a:solidFill>
                  <a:srgbClr val="FF8A3D"/>
                </a:solidFill>
                <a:latin typeface="Microsoft YaHei"/>
                <a:ea typeface="Microsoft YaHei"/>
                <a:cs typeface="Microsoft YaHei"/>
              </a:rPr>
              <a:t>铁则</a:t>
            </a:r>
            <a:r>
              <a:rPr lang="zh-CN" sz="1350" b="0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：不临床诊断 · 不开药 · 不推荐理财产品——心理 / 健康 / 理财三类角色常驻免责声明条 🫡</a:t>
            </a:r>
          </a:p>
        </p:txBody>
      </p:sp>
      <p:sp>
        <p:nvSpPr>
          <p:cNvPr id="0" name="t"/>
          <p:cNvSpPr txBox="1"/>
          <p:nvPr/>
        </p:nvSpPr>
        <p:spPr>
          <a:xfrm>
            <a:off x="571500" y="655320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150" b="0" dirty="0">
                <a:solidFill>
                  <a:srgbClr val="93A3BF"/>
                </a:solidFill>
                <a:latin typeface="Consolas"/>
                <a:ea typeface="Consolas"/>
                <a:cs typeface="Consolas"/>
              </a:rPr>
              <a:t>AI 学习伙伴 · HACKATHON 2026</a:t>
            </a:r>
          </a:p>
        </p:txBody>
      </p:sp>
      <p:sp>
        <p:nvSpPr>
          <p:cNvPr id="0" name="t"/>
          <p:cNvSpPr txBox="1"/>
          <p:nvPr/>
        </p:nvSpPr>
        <p:spPr>
          <a:xfrm>
            <a:off x="10287000" y="6553200"/>
            <a:ext cx="1333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r"/>
            <a:r>
              <a:rPr lang="zh-CN" sz="1150" b="0" dirty="0">
                <a:solidFill>
                  <a:srgbClr val="93A3BF"/>
                </a:solidFill>
                <a:latin typeface="Consolas"/>
                <a:ea typeface="Consolas"/>
                <a:cs typeface="Consolas"/>
              </a:rPr>
              <a:t>08 / 15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8EC"/>
              </a:gs>
              <a:gs pos="100000">
                <a:srgbClr val="EDF5FF"/>
              </a:gs>
            </a:gsLst>
            <a:lin ang="27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8EC"/>
              </a:gs>
              <a:gs pos="100000">
                <a:srgbClr val="EDF5FF"/>
              </a:gs>
            </a:gsLst>
            <a:lin ang="27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8382000" y="-1905000"/>
            <a:ext cx="5334000" cy="5334000"/>
          </a:xfrm>
          <a:prstGeom prst="rect">
            <a:avLst/>
          </a:prstGeom>
          <a:gradFill rotWithShape="1">
            <a:gsLst>
              <a:gs pos="0">
                <a:srgbClr val="FFC58A">
                  <a:alpha val="38000"/>
                </a:srgbClr>
              </a:gs>
              <a:gs pos="70000">
                <a:srgbClr val="FFC58A">
                  <a:alpha val="0"/>
                </a:srgbClr>
              </a:gs>
              <a:gs pos="100000">
                <a:srgbClr val="FFC58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-1524000" y="4000500"/>
            <a:ext cx="4953000" cy="4953000"/>
          </a:xfrm>
          <a:prstGeom prst="rect">
            <a:avLst/>
          </a:prstGeom>
          <a:gradFill rotWithShape="1">
            <a:gsLst>
              <a:gs pos="0">
                <a:srgbClr val="9CC4FF">
                  <a:alpha val="38000"/>
                </a:srgbClr>
              </a:gs>
              <a:gs pos="70000">
                <a:srgbClr val="9CC4FF">
                  <a:alpha val="0"/>
                </a:srgbClr>
              </a:gs>
              <a:gs pos="100000">
                <a:srgbClr val="9CC4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571500" y="381000"/>
            <a:ext cx="6667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200" b="1" dirty="0" spc="300">
                <a:solidFill>
                  <a:srgbClr val="4C7DFF"/>
                </a:solidFill>
                <a:latin typeface="Consolas"/>
                <a:ea typeface="Consolas"/>
                <a:cs typeface="Consolas"/>
              </a:rPr>
              <a:t>08 · UI TOUR 5/5 · VOICE</a:t>
            </a:r>
          </a:p>
        </p:txBody>
      </p:sp>
      <p:sp>
        <p:nvSpPr>
          <p:cNvPr id="0" name="t"/>
          <p:cNvSpPr txBox="1"/>
          <p:nvPr/>
        </p:nvSpPr>
        <p:spPr>
          <a:xfrm>
            <a:off x="571500" y="609600"/>
            <a:ext cx="8572500" cy="4762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340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像打电话一样，跟 AI 聊</a:t>
            </a:r>
          </a:p>
        </p:txBody>
      </p:sp>
      <p:sp>
        <p:nvSpPr>
          <p:cNvPr id="0" name="s"/>
          <p:cNvSpPr/>
          <p:nvPr/>
        </p:nvSpPr>
        <p:spPr>
          <a:xfrm>
            <a:off x="9239250" y="476250"/>
            <a:ext cx="2381250" cy="32385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2700">
            <a:solidFill>
              <a:srgbClr val="4C7DFF">
                <a:alpha val="100000"/>
              </a:srgbClr>
            </a:solidFill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9315450" y="476250"/>
            <a:ext cx="22288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zh-CN" sz="1200" b="1" dirty="0">
                <a:solidFill>
                  <a:srgbClr val="2F5FE0"/>
                </a:solidFill>
                <a:latin typeface="Microsoft YaHei"/>
                <a:ea typeface="Microsoft YaHei"/>
                <a:cs typeface="Microsoft YaHei"/>
              </a:rPr>
              <a:t>🎧 哈基米启动！</a:t>
            </a:r>
          </a:p>
        </p:txBody>
      </p:sp>
      <p:pic>
        <p:nvPicPr>
          <p:cNvPr id="0" name="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76350"/>
            <a:ext cx="6286500" cy="3924300"/>
          </a:xfrm>
          <a:prstGeom prst="roundRect">
            <a:avLst>
              <a:gd name="adj" fmla="val 2912"/>
            </a:avLst>
          </a:prstGeom>
          <a:ln w="12700">
            <a:solidFill>
              <a:srgbClr val="DFE7F6"/>
            </a:solidFill>
          </a:ln>
          <a:effectLst>
            <a:outerShdw blurRad="190500" dist="50800" dir="5400000" rotWithShape="0">
              <a:srgbClr val="0B1B3A">
                <a:alpha val="14000"/>
              </a:srgbClr>
            </a:outerShdw>
          </a:effectLst>
        </p:spPr>
      </p:pic>
      <p:sp>
        <p:nvSpPr>
          <p:cNvPr id="0" name="t"/>
          <p:cNvSpPr txBox="1"/>
          <p:nvPr/>
        </p:nvSpPr>
        <p:spPr>
          <a:xfrm>
            <a:off x="7143750" y="1428750"/>
            <a:ext cx="2857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500" b="0" dirty="0">
                <a:solidFill>
                  <a:srgbClr val="142B4A"/>
                </a:solidFill>
                <a:latin typeface="Segoe UI Emoji"/>
                <a:ea typeface="Segoe UI Emoji"/>
                <a:cs typeface="Segoe UI Emoji"/>
              </a:rPr>
              <a:t>🎙</a:t>
            </a:r>
          </a:p>
        </p:txBody>
      </p:sp>
      <p:sp>
        <p:nvSpPr>
          <p:cNvPr id="0" name="t"/>
          <p:cNvSpPr txBox="1"/>
          <p:nvPr/>
        </p:nvSpPr>
        <p:spPr>
          <a:xfrm>
            <a:off x="7524750" y="1409700"/>
            <a:ext cx="40957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55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说话即对话，全程免打字</a:t>
            </a:r>
          </a:p>
        </p:txBody>
      </p:sp>
      <p:sp>
        <p:nvSpPr>
          <p:cNvPr id="0" name="t"/>
          <p:cNvSpPr txBox="1"/>
          <p:nvPr/>
        </p:nvSpPr>
        <p:spPr>
          <a:xfrm>
            <a:off x="7524750" y="1657350"/>
            <a:ext cx="409575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lnSpc>
              <a:spcPct val="160000"/>
            </a:lnSpc>
            <a:pPr algn="l"/>
            <a:r>
              <a:rPr lang="zh-CN" sz="125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STT 语音识别 + TTS 播报完整闭环：说一句话，AI 用语音回你。</a:t>
            </a:r>
          </a:p>
        </p:txBody>
      </p:sp>
      <p:sp>
        <p:nvSpPr>
          <p:cNvPr id="0" name="t"/>
          <p:cNvSpPr txBox="1"/>
          <p:nvPr/>
        </p:nvSpPr>
        <p:spPr>
          <a:xfrm>
            <a:off x="7143750" y="2305050"/>
            <a:ext cx="2857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500" b="0" dirty="0">
                <a:solidFill>
                  <a:srgbClr val="142B4A"/>
                </a:solidFill>
                <a:latin typeface="Segoe UI Emoji"/>
                <a:ea typeface="Segoe UI Emoji"/>
                <a:cs typeface="Segoe UI Emoji"/>
              </a:rPr>
              <a:t>📞</a:t>
            </a:r>
          </a:p>
        </p:txBody>
      </p:sp>
      <p:sp>
        <p:nvSpPr>
          <p:cNvPr id="0" name="t"/>
          <p:cNvSpPr txBox="1"/>
          <p:nvPr/>
        </p:nvSpPr>
        <p:spPr>
          <a:xfrm>
            <a:off x="7524750" y="2286000"/>
            <a:ext cx="40957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55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全屏通话界面 + 实时字幕</a:t>
            </a:r>
          </a:p>
        </p:txBody>
      </p:sp>
      <p:sp>
        <p:nvSpPr>
          <p:cNvPr id="0" name="t"/>
          <p:cNvSpPr txBox="1"/>
          <p:nvPr/>
        </p:nvSpPr>
        <p:spPr>
          <a:xfrm>
            <a:off x="7524750" y="2533650"/>
            <a:ext cx="409575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lnSpc>
              <a:spcPct val="160000"/>
            </a:lnSpc>
            <a:pPr algn="l"/>
            <a:r>
              <a:rPr lang="zh-CN" sz="125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当前角色头像居中，回复字幕同步滚动；男女音色一键切换，挂断即退出。</a:t>
            </a:r>
          </a:p>
        </p:txBody>
      </p:sp>
      <p:sp>
        <p:nvSpPr>
          <p:cNvPr id="0" name="t"/>
          <p:cNvSpPr txBox="1"/>
          <p:nvPr/>
        </p:nvSpPr>
        <p:spPr>
          <a:xfrm>
            <a:off x="7143750" y="3181350"/>
            <a:ext cx="2857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500" b="0" dirty="0">
                <a:solidFill>
                  <a:srgbClr val="142B4A"/>
                </a:solidFill>
                <a:latin typeface="Segoe UI Emoji"/>
                <a:ea typeface="Segoe UI Emoji"/>
                <a:cs typeface="Segoe UI Emoji"/>
              </a:rPr>
              <a:t>📶</a:t>
            </a:r>
          </a:p>
        </p:txBody>
      </p:sp>
      <p:sp>
        <p:nvSpPr>
          <p:cNvPr id="0" name="t"/>
          <p:cNvSpPr txBox="1"/>
          <p:nvPr/>
        </p:nvSpPr>
        <p:spPr>
          <a:xfrm>
            <a:off x="7524750" y="3162300"/>
            <a:ext cx="40957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55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浏览器原生，零云端服务</a:t>
            </a:r>
          </a:p>
        </p:txBody>
      </p:sp>
      <p:sp>
        <p:nvSpPr>
          <p:cNvPr id="0" name="t"/>
          <p:cNvSpPr txBox="1"/>
          <p:nvPr/>
        </p:nvSpPr>
        <p:spPr>
          <a:xfrm>
            <a:off x="7524750" y="3409950"/>
            <a:ext cx="409575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lnSpc>
              <a:spcPct val="160000"/>
            </a:lnSpc>
            <a:pPr algn="l"/>
            <a:r>
              <a:rPr lang="zh-CN" sz="125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Web Speech API + speechSynthesis——识别与播报都在本机，不装任何 App。</a:t>
            </a:r>
          </a:p>
        </p:txBody>
      </p:sp>
      <p:sp>
        <p:nvSpPr>
          <p:cNvPr id="0" name="s"/>
          <p:cNvSpPr/>
          <p:nvPr/>
        </p:nvSpPr>
        <p:spPr>
          <a:xfrm>
            <a:off x="7143750" y="4152900"/>
            <a:ext cx="4476750" cy="685800"/>
          </a:xfrm>
          <a:prstGeom prst="roundRect">
            <a:avLst>
              <a:gd name="adj" fmla="val 16666"/>
            </a:avLst>
          </a:prstGeom>
          <a:solidFill>
            <a:srgbClr val="FF8A3D">
              <a:alpha val="8000"/>
            </a:srgbClr>
          </a:solidFill>
          <a:ln w="12700">
            <a:solidFill>
              <a:srgbClr val="FF8A3D">
                <a:alpha val="40000"/>
              </a:srgbClr>
            </a:solidFill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7315200" y="4305300"/>
            <a:ext cx="4133850" cy="419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lnSpc>
              <a:spcPct val="158000"/>
            </a:lnSpc>
            <a:pPr algn="l"/>
            <a:r>
              <a:rPr lang="zh-CN" sz="1400" b="0" dirty="0">
                <a:solidFill>
                  <a:srgbClr val="FF8A3D"/>
                </a:solidFill>
                <a:latin typeface="Segoe UI Emoji"/>
                <a:ea typeface="Segoe UI Emoji"/>
                <a:cs typeface="Segoe UI Emoji"/>
              </a:rPr>
              <a:t>🎬 </a:t>
            </a:r>
            <a:r>
              <a:rPr lang="zh-CN" sz="1250" b="0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演示模式下语音流程完整可用——现场没网也能直接演示「打电话」。</a:t>
            </a:r>
          </a:p>
        </p:txBody>
      </p:sp>
      <p:sp>
        <p:nvSpPr>
          <p:cNvPr id="0" name="t"/>
          <p:cNvSpPr txBox="1"/>
          <p:nvPr/>
        </p:nvSpPr>
        <p:spPr>
          <a:xfrm>
            <a:off x="571500" y="655320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150" b="0" dirty="0">
                <a:solidFill>
                  <a:srgbClr val="93A3BF"/>
                </a:solidFill>
                <a:latin typeface="Consolas"/>
                <a:ea typeface="Consolas"/>
                <a:cs typeface="Consolas"/>
              </a:rPr>
              <a:t>AI 学习伙伴 · HACKATHON 2026</a:t>
            </a:r>
          </a:p>
        </p:txBody>
      </p:sp>
      <p:sp>
        <p:nvSpPr>
          <p:cNvPr id="0" name="t"/>
          <p:cNvSpPr txBox="1"/>
          <p:nvPr/>
        </p:nvSpPr>
        <p:spPr>
          <a:xfrm>
            <a:off x="10287000" y="6553200"/>
            <a:ext cx="1333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r"/>
            <a:r>
              <a:rPr lang="zh-CN" sz="1150" b="0" dirty="0">
                <a:solidFill>
                  <a:srgbClr val="93A3BF"/>
                </a:solidFill>
                <a:latin typeface="Consolas"/>
                <a:ea typeface="Consolas"/>
                <a:cs typeface="Consolas"/>
              </a:rPr>
              <a:t>09 / 15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8EC"/>
              </a:gs>
              <a:gs pos="100000">
                <a:srgbClr val="EDF5FF"/>
              </a:gs>
            </a:gsLst>
            <a:lin ang="27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8EC"/>
              </a:gs>
              <a:gs pos="100000">
                <a:srgbClr val="EDF5FF"/>
              </a:gs>
            </a:gsLst>
            <a:lin ang="27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2857500" y="-1428750"/>
            <a:ext cx="4953000" cy="4953000"/>
          </a:xfrm>
          <a:prstGeom prst="rect">
            <a:avLst/>
          </a:prstGeom>
          <a:gradFill rotWithShape="1">
            <a:gsLst>
              <a:gs pos="0">
                <a:srgbClr val="FFC58A">
                  <a:alpha val="38000"/>
                </a:srgbClr>
              </a:gs>
              <a:gs pos="70000">
                <a:srgbClr val="FFC58A">
                  <a:alpha val="0"/>
                </a:srgbClr>
              </a:gs>
              <a:gs pos="100000">
                <a:srgbClr val="FFC58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571500" y="381000"/>
            <a:ext cx="6667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200" b="1" dirty="0" spc="300">
                <a:solidFill>
                  <a:srgbClr val="4C7DFF"/>
                </a:solidFill>
                <a:latin typeface="Consolas"/>
                <a:ea typeface="Consolas"/>
                <a:cs typeface="Consolas"/>
              </a:rPr>
              <a:t>09 · 多端适配</a:t>
            </a:r>
          </a:p>
        </p:txBody>
      </p:sp>
      <p:sp>
        <p:nvSpPr>
          <p:cNvPr id="0" name="t"/>
          <p:cNvSpPr txBox="1"/>
          <p:nvPr/>
        </p:nvSpPr>
        <p:spPr>
          <a:xfrm>
            <a:off x="571500" y="628650"/>
            <a:ext cx="85725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320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白天通透，夜里护眼</a:t>
            </a:r>
          </a:p>
        </p:txBody>
      </p:sp>
      <p:sp>
        <p:nvSpPr>
          <p:cNvPr id="0" name="s"/>
          <p:cNvSpPr/>
          <p:nvPr/>
        </p:nvSpPr>
        <p:spPr>
          <a:xfrm>
            <a:off x="9239250" y="476250"/>
            <a:ext cx="2381250" cy="323850"/>
          </a:xfrm>
          <a:prstGeom prst="roundRect">
            <a:avLst>
              <a:gd name="adj" fmla="val 50000"/>
            </a:avLst>
          </a:prstGeom>
          <a:solidFill>
            <a:srgbClr val="FFF1E3"/>
          </a:solidFill>
          <a:ln w="12700">
            <a:solidFill>
              <a:srgbClr val="FF8A3D">
                <a:alpha val="100000"/>
              </a:srgbClr>
            </a:solidFill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9315450" y="476250"/>
            <a:ext cx="22288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zh-CN" sz="1200" b="1" dirty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🌙 深浅双主题都好看</a:t>
            </a:r>
          </a:p>
        </p:txBody>
      </p:sp>
      <p:pic>
        <p:nvPicPr>
          <p:cNvPr id="0" name="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181100"/>
            <a:ext cx="6667500" cy="4171950"/>
          </a:xfrm>
          <a:prstGeom prst="roundRect">
            <a:avLst>
              <a:gd name="adj" fmla="val 2739"/>
            </a:avLst>
          </a:prstGeom>
          <a:ln w="12700">
            <a:solidFill>
              <a:srgbClr val="DFE7F6"/>
            </a:solidFill>
          </a:ln>
          <a:effectLst>
            <a:outerShdw blurRad="190500" dist="50800" dir="5400000" rotWithShape="0">
              <a:srgbClr val="0B1B3A">
                <a:alpha val="14000"/>
              </a:srgbClr>
            </a:outerShdw>
          </a:effectLst>
        </p:spPr>
      </p:pic>
      <p:sp>
        <p:nvSpPr>
          <p:cNvPr id="0" name="s"/>
          <p:cNvSpPr/>
          <p:nvPr/>
        </p:nvSpPr>
        <p:spPr>
          <a:xfrm>
            <a:off x="628650" y="123825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4C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819150" y="5372100"/>
            <a:ext cx="64770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150" b="0" dirty="0">
                <a:solidFill>
                  <a:srgbClr val="5A6C88"/>
                </a:solidFill>
                <a:latin typeface="Consolas"/>
                <a:ea typeface="Consolas"/>
                <a:cs typeface="Consolas"/>
              </a:rPr>
              <a:t>桌面端 · 深色模式跟随系统，深夜宿舍不刺眼</a:t>
            </a:r>
          </a:p>
        </p:txBody>
      </p:sp>
      <p:pic>
        <p:nvPicPr>
          <p:cNvPr id="0" name="im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0" y="1181100"/>
            <a:ext cx="1866900" cy="4038600"/>
          </a:xfrm>
          <a:prstGeom prst="roundRect">
            <a:avLst>
              <a:gd name="adj" fmla="val 8163"/>
            </a:avLst>
          </a:prstGeom>
          <a:ln w="12700">
            <a:solidFill>
              <a:srgbClr val="DFE7F6"/>
            </a:solidFill>
          </a:ln>
          <a:effectLst>
            <a:outerShdw blurRad="190500" dist="50800" dir="5400000" rotWithShape="0">
              <a:srgbClr val="0B1B3A">
                <a:alpha val="14000"/>
              </a:srgbClr>
            </a:outerShdw>
          </a:effectLst>
        </p:spPr>
      </p:pic>
      <p:sp>
        <p:nvSpPr>
          <p:cNvPr id="0" name="t"/>
          <p:cNvSpPr txBox="1"/>
          <p:nvPr/>
        </p:nvSpPr>
        <p:spPr>
          <a:xfrm>
            <a:off x="7334250" y="5257800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ctr"/>
            <a:r>
              <a:rPr lang="zh-CN" sz="1150" b="0" dirty="0">
                <a:solidFill>
                  <a:srgbClr val="5A6C88"/>
                </a:solidFill>
                <a:latin typeface="Consolas"/>
                <a:ea typeface="Consolas"/>
                <a:cs typeface="Consolas"/>
              </a:rPr>
              <a:t>移动端 · 底部角色 Tab</a:t>
            </a:r>
          </a:p>
        </p:txBody>
      </p:sp>
      <p:sp>
        <p:nvSpPr>
          <p:cNvPr id="0" name="s"/>
          <p:cNvSpPr/>
          <p:nvPr/>
        </p:nvSpPr>
        <p:spPr>
          <a:xfrm>
            <a:off x="571500" y="5619750"/>
            <a:ext cx="3514725" cy="64770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FE7F6">
                <a:alpha val="40000"/>
              </a:srgbClr>
            </a:solidFill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723900" y="5715000"/>
            <a:ext cx="3238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35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响应式自适应</a:t>
            </a:r>
          </a:p>
        </p:txBody>
      </p:sp>
      <p:sp>
        <p:nvSpPr>
          <p:cNvPr id="0" name="t"/>
          <p:cNvSpPr txBox="1"/>
          <p:nvPr/>
        </p:nvSpPr>
        <p:spPr>
          <a:xfrm>
            <a:off x="723900" y="5924550"/>
            <a:ext cx="32385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lnSpc>
              <a:spcPct val="140000"/>
            </a:lnSpc>
            <a:pPr algn="l"/>
            <a:r>
              <a:rPr lang="zh-CN" sz="110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≤900px 自动切换：顶部精简操作栏 + 底部角色导航，拇指可达。</a:t>
            </a:r>
          </a:p>
        </p:txBody>
      </p:sp>
      <p:sp>
        <p:nvSpPr>
          <p:cNvPr id="0" name="s"/>
          <p:cNvSpPr/>
          <p:nvPr/>
        </p:nvSpPr>
        <p:spPr>
          <a:xfrm>
            <a:off x="4314825" y="5619750"/>
            <a:ext cx="3514725" cy="64770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FE7F6">
                <a:alpha val="40000"/>
              </a:srgbClr>
            </a:solidFill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4467225" y="5715000"/>
            <a:ext cx="3238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35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深浅双主题</a:t>
            </a:r>
          </a:p>
        </p:txBody>
      </p:sp>
      <p:sp>
        <p:nvSpPr>
          <p:cNvPr id="0" name="t"/>
          <p:cNvSpPr txBox="1"/>
          <p:nvPr/>
        </p:nvSpPr>
        <p:spPr>
          <a:xfrm>
            <a:off x="4467225" y="5924550"/>
            <a:ext cx="32385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lnSpc>
              <a:spcPct val="140000"/>
            </a:lnSpc>
            <a:pPr algn="l"/>
            <a:r>
              <a:rPr lang="zh-CN" sz="110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跟随系统自动切换；全套语义色变量驱动，角色强调色两种主题下都成立。</a:t>
            </a:r>
          </a:p>
        </p:txBody>
      </p:sp>
      <p:sp>
        <p:nvSpPr>
          <p:cNvPr id="0" name="s"/>
          <p:cNvSpPr/>
          <p:nvPr/>
        </p:nvSpPr>
        <p:spPr>
          <a:xfrm>
            <a:off x="8058150" y="5619750"/>
            <a:ext cx="3514725" cy="647700"/>
          </a:xfrm>
          <a:prstGeom prst="roundRect">
            <a:avLst>
              <a:gd name="adj" fmla="val 17647"/>
            </a:avLst>
          </a:prstGeom>
          <a:solidFill>
            <a:srgbClr val="FF8A3D">
              <a:alpha val="8000"/>
            </a:srgbClr>
          </a:solidFill>
          <a:ln w="12700">
            <a:solidFill>
              <a:srgbClr val="FF8A3D">
                <a:alpha val="40000"/>
              </a:srgbClr>
            </a:solidFill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8210550" y="5715000"/>
            <a:ext cx="3238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35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同一份画像</a:t>
            </a:r>
          </a:p>
        </p:txBody>
      </p:sp>
      <p:sp>
        <p:nvSpPr>
          <p:cNvPr id="0" name="t"/>
          <p:cNvSpPr txBox="1"/>
          <p:nvPr/>
        </p:nvSpPr>
        <p:spPr>
          <a:xfrm>
            <a:off x="8210550" y="5924550"/>
            <a:ext cx="32385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lnSpc>
              <a:spcPct val="140000"/>
            </a:lnSpc>
            <a:pPr algn="l"/>
            <a:r>
              <a:rPr lang="zh-CN" sz="1100" b="0" dirty="0">
                <a:solidFill>
                  <a:srgbClr val="2F5FE0"/>
                </a:solidFill>
                <a:latin typeface="Microsoft YaHei"/>
                <a:ea typeface="Microsoft YaHei"/>
                <a:cs typeface="Microsoft YaHei"/>
              </a:rPr>
              <a:t>手机问一半，电脑接着聊——同一浏览器下画像与会话完全一致。</a:t>
            </a:r>
          </a:p>
        </p:txBody>
      </p:sp>
      <p:sp>
        <p:nvSpPr>
          <p:cNvPr id="0" name="t"/>
          <p:cNvSpPr txBox="1"/>
          <p:nvPr/>
        </p:nvSpPr>
        <p:spPr>
          <a:xfrm>
            <a:off x="571500" y="655320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150" b="0" dirty="0">
                <a:solidFill>
                  <a:srgbClr val="93A3BF"/>
                </a:solidFill>
                <a:latin typeface="Consolas"/>
                <a:ea typeface="Consolas"/>
                <a:cs typeface="Consolas"/>
              </a:rPr>
              <a:t>AI 学习伙伴 · HACKATHON 2026</a:t>
            </a:r>
          </a:p>
        </p:txBody>
      </p:sp>
      <p:sp>
        <p:nvSpPr>
          <p:cNvPr id="0" name="t"/>
          <p:cNvSpPr txBox="1"/>
          <p:nvPr/>
        </p:nvSpPr>
        <p:spPr>
          <a:xfrm>
            <a:off x="10287000" y="6553200"/>
            <a:ext cx="1333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r"/>
            <a:r>
              <a:rPr lang="zh-CN" sz="1150" b="0" dirty="0">
                <a:solidFill>
                  <a:srgbClr val="93A3BF"/>
                </a:solidFill>
                <a:latin typeface="Consolas"/>
                <a:ea typeface="Consolas"/>
                <a:cs typeface="Consolas"/>
              </a:rPr>
              <a:t>10 / 15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8EC"/>
              </a:gs>
              <a:gs pos="100000">
                <a:srgbClr val="EDF5FF"/>
              </a:gs>
            </a:gsLst>
            <a:lin ang="27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8EC"/>
              </a:gs>
              <a:gs pos="100000">
                <a:srgbClr val="EDF5FF"/>
              </a:gs>
            </a:gsLst>
            <a:lin ang="27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8382000" y="3810000"/>
            <a:ext cx="4762500" cy="4762500"/>
          </a:xfrm>
          <a:prstGeom prst="rect">
            <a:avLst/>
          </a:prstGeom>
          <a:gradFill rotWithShape="1">
            <a:gsLst>
              <a:gs pos="0">
                <a:srgbClr val="9CC4FF">
                  <a:alpha val="38000"/>
                </a:srgbClr>
              </a:gs>
              <a:gs pos="70000">
                <a:srgbClr val="9CC4FF">
                  <a:alpha val="0"/>
                </a:srgbClr>
              </a:gs>
              <a:gs pos="100000">
                <a:srgbClr val="9CC4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571500" y="38100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200" b="1" dirty="0" spc="300">
                <a:solidFill>
                  <a:srgbClr val="4C7DFF"/>
                </a:solidFill>
                <a:latin typeface="Consolas"/>
                <a:ea typeface="Consolas"/>
                <a:cs typeface="Consolas"/>
              </a:rPr>
              <a:t>10 · TECH ARCH</a:t>
            </a:r>
          </a:p>
        </p:txBody>
      </p:sp>
      <p:sp>
        <p:nvSpPr>
          <p:cNvPr id="0" name="t"/>
          <p:cNvSpPr txBox="1"/>
          <p:nvPr/>
        </p:nvSpPr>
        <p:spPr>
          <a:xfrm>
            <a:off x="571500" y="609600"/>
            <a:ext cx="3429000" cy="876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lnSpc>
              <a:spcPct val="135000"/>
            </a:lnSpc>
            <a:pPr algn="l"/>
            <a:r>
              <a:rPr lang="zh-CN" sz="260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单 HTML 离线优先</a:t>
            </a:r>
          </a:p>
          <a:p>
            <a:r>
              <a:rPr lang="zh-CN" sz="260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三层轻架构</a:t>
            </a:r>
          </a:p>
        </p:txBody>
      </p:sp>
      <p:sp>
        <p:nvSpPr>
          <p:cNvPr id="0" name="s"/>
          <p:cNvSpPr/>
          <p:nvPr/>
        </p:nvSpPr>
        <p:spPr>
          <a:xfrm>
            <a:off x="9239250" y="476250"/>
            <a:ext cx="2381250" cy="32385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2700">
            <a:solidFill>
              <a:srgbClr val="4C7DFF">
                <a:alpha val="100000"/>
              </a:srgbClr>
            </a:solidFill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9315450" y="476250"/>
            <a:ext cx="22288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zh-CN" sz="1200" b="1" dirty="0">
                <a:solidFill>
                  <a:srgbClr val="2F5FE0"/>
                </a:solidFill>
                <a:latin typeface="Microsoft YaHei"/>
                <a:ea typeface="Microsoft YaHei"/>
                <a:cs typeface="Microsoft YaHei"/>
              </a:rPr>
              <a:t>🧊 单文件，赛博续命</a:t>
            </a:r>
          </a:p>
        </p:txBody>
      </p:sp>
      <p:sp>
        <p:nvSpPr>
          <p:cNvPr id="0" name="s"/>
          <p:cNvSpPr/>
          <p:nvPr/>
        </p:nvSpPr>
        <p:spPr>
          <a:xfrm>
            <a:off x="571500" y="1866900"/>
            <a:ext cx="2857500" cy="142875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FE7F6">
                <a:alpha val="100000"/>
              </a:srgbClr>
            </a:solidFill>
          </a:ln>
          <a:effectLst>
            <a:outerShdw blurRad="190500" dist="50800" dir="5400000" rotWithShape="0">
              <a:srgbClr val="0B1B3A">
                <a:alpha val="14000"/>
              </a:srgbClr>
            </a:outerShdw>
          </a:effectLst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742950" y="2038350"/>
            <a:ext cx="2514600" cy="419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4000" b="1" dirty="0">
                <a:solidFill>
                  <a:srgbClr val="12BFA5"/>
                </a:solidFill>
                <a:latin typeface="Microsoft YaHei"/>
                <a:ea typeface="Microsoft YaHei"/>
                <a:cs typeface="Microsoft YaHei"/>
              </a:rPr>
              <a:t>1 个文件</a:t>
            </a:r>
          </a:p>
        </p:txBody>
      </p:sp>
      <p:sp>
        <p:nvSpPr>
          <p:cNvPr id="0" name="t"/>
          <p:cNvSpPr txBox="1"/>
          <p:nvPr/>
        </p:nvSpPr>
        <p:spPr>
          <a:xfrm>
            <a:off x="742950" y="2514600"/>
            <a:ext cx="2514600" cy="666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lnSpc>
              <a:spcPct val="160000"/>
            </a:lnSpc>
            <a:pPr algn="l"/>
            <a:r>
              <a:rPr lang="zh-CN" sz="125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拷进 U 盘就能跑。没有构建、没有后端、没有部署——评委现场零依赖。</a:t>
            </a:r>
          </a:p>
        </p:txBody>
      </p:sp>
      <p:sp>
        <p:nvSpPr>
          <p:cNvPr id="0" name="s"/>
          <p:cNvSpPr/>
          <p:nvPr/>
        </p:nvSpPr>
        <p:spPr>
          <a:xfrm>
            <a:off x="571500" y="3448050"/>
            <a:ext cx="2857500" cy="1428750"/>
          </a:xfrm>
          <a:prstGeom prst="roundRect">
            <a:avLst>
              <a:gd name="adj" fmla="val 9333"/>
            </a:avLst>
          </a:prstGeom>
          <a:solidFill>
            <a:srgbClr val="FF8A3D">
              <a:alpha val="7000"/>
            </a:srgbClr>
          </a:solidFill>
          <a:ln w="12700">
            <a:solidFill>
              <a:srgbClr val="FF8A3D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742950" y="3619500"/>
            <a:ext cx="2514600" cy="419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4000" b="1" dirty="0">
                <a:solidFill>
                  <a:srgbClr val="FF8A3D"/>
                </a:solidFill>
                <a:latin typeface="Microsoft YaHei"/>
                <a:ea typeface="Microsoft YaHei"/>
                <a:cs typeface="Microsoft YaHei"/>
              </a:rPr>
              <a:t>¥0 API 费</a:t>
            </a:r>
          </a:p>
        </p:txBody>
      </p:sp>
      <p:sp>
        <p:nvSpPr>
          <p:cNvPr id="0" name="t"/>
          <p:cNvSpPr txBox="1"/>
          <p:nvPr/>
        </p:nvSpPr>
        <p:spPr>
          <a:xfrm>
            <a:off x="742950" y="4095750"/>
            <a:ext cx="2514600" cy="666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lnSpc>
              <a:spcPct val="160000"/>
            </a:lnSpc>
            <a:pPr algn="l"/>
            <a:r>
              <a:rPr lang="zh-CN" sz="1250" b="0" dirty="0">
                <a:solidFill>
                  <a:srgbClr val="2F5FE0"/>
                </a:solidFill>
                <a:latin typeface="Microsoft YaHei"/>
                <a:ea typeface="Microsoft YaHei"/>
                <a:cs typeface="Microsoft YaHei"/>
              </a:rPr>
              <a:t>对接本地开源模型，不按 token 计费，长期使用零成本。</a:t>
            </a:r>
          </a:p>
        </p:txBody>
      </p:sp>
      <p:sp>
        <p:nvSpPr>
          <p:cNvPr id="0" name="s"/>
          <p:cNvSpPr/>
          <p:nvPr/>
        </p:nvSpPr>
        <p:spPr>
          <a:xfrm>
            <a:off x="3810000" y="952500"/>
            <a:ext cx="7810500" cy="87630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DFE7F6">
                <a:alpha val="100000"/>
              </a:srgbClr>
            </a:solidFill>
          </a:ln>
          <a:effectLst>
            <a:outerShdw blurRad="190500" dist="50800" dir="5400000" rotWithShape="0">
              <a:srgbClr val="0B1B3A">
                <a:alpha val="14000"/>
              </a:srgbClr>
            </a:outerShdw>
          </a:effectLst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3810000" y="952500"/>
            <a:ext cx="38100" cy="876300"/>
          </a:xfrm>
          <a:prstGeom prst="rect">
            <a:avLst/>
          </a:prstGeom>
          <a:solidFill>
            <a:srgbClr val="4C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4000500" y="1171575"/>
            <a:ext cx="438150" cy="438150"/>
          </a:xfrm>
          <a:prstGeom prst="roundRect">
            <a:avLst>
              <a:gd name="adj" fmla="val 28000"/>
            </a:avLst>
          </a:prstGeom>
          <a:solidFill>
            <a:srgbClr val="4C7DFF">
              <a:alpha val="8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4000500" y="1171575"/>
            <a:ext cx="4381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zh-CN" sz="1932" b="0" dirty="0">
                <a:solidFill>
                  <a:srgbClr val="142B4A"/>
                </a:solidFill>
                <a:latin typeface="Segoe UI Emoji"/>
                <a:ea typeface="Segoe UI Emoji"/>
                <a:cs typeface="Segoe UI Emoji"/>
              </a:rPr>
              <a:t>🖥️</a:t>
            </a:r>
          </a:p>
        </p:txBody>
      </p:sp>
      <p:sp>
        <p:nvSpPr>
          <p:cNvPr id="0" name="t"/>
          <p:cNvSpPr txBox="1"/>
          <p:nvPr/>
        </p:nvSpPr>
        <p:spPr>
          <a:xfrm>
            <a:off x="4629150" y="1123950"/>
            <a:ext cx="68199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55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表现层 · 浏览器端</a:t>
            </a:r>
          </a:p>
        </p:txBody>
      </p:sp>
      <p:sp>
        <p:nvSpPr>
          <p:cNvPr id="0" name="t"/>
          <p:cNvSpPr txBox="1"/>
          <p:nvPr/>
        </p:nvSpPr>
        <p:spPr>
          <a:xfrm>
            <a:off x="4629150" y="1390650"/>
            <a:ext cx="68199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lnSpc>
              <a:spcPct val="150000"/>
            </a:lnSpc>
            <a:pPr algn="l"/>
            <a:r>
              <a:rPr lang="zh-CN" sz="120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原生 HTML / CSS / JS · 对话流式渲染 · 五角色导航 · 画像抽屉 · 语音全屏层 · 深浅双主题</a:t>
            </a:r>
          </a:p>
        </p:txBody>
      </p:sp>
      <p:sp>
        <p:nvSpPr>
          <p:cNvPr id="0" name="t"/>
          <p:cNvSpPr txBox="1"/>
          <p:nvPr/>
        </p:nvSpPr>
        <p:spPr>
          <a:xfrm>
            <a:off x="7581900" y="1828800"/>
            <a:ext cx="2667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ctr"/>
            <a:r>
              <a:rPr lang="zh-CN" sz="1300" b="0" dirty="0">
                <a:solidFill>
                  <a:srgbClr val="B7C6E6"/>
                </a:solidFill>
                <a:latin typeface="Microsoft YaHei"/>
                <a:ea typeface="Microsoft YaHei"/>
                <a:cs typeface="Microsoft YaHei"/>
              </a:rPr>
              <a:t>▼</a:t>
            </a:r>
          </a:p>
        </p:txBody>
      </p:sp>
      <p:sp>
        <p:nvSpPr>
          <p:cNvPr id="0" name="s"/>
          <p:cNvSpPr/>
          <p:nvPr/>
        </p:nvSpPr>
        <p:spPr>
          <a:xfrm>
            <a:off x="3810000" y="1962150"/>
            <a:ext cx="7810500" cy="87630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DFE7F6">
                <a:alpha val="100000"/>
              </a:srgbClr>
            </a:solidFill>
          </a:ln>
          <a:effectLst>
            <a:outerShdw blurRad="190500" dist="50800" dir="5400000" rotWithShape="0">
              <a:srgbClr val="0B1B3A">
                <a:alpha val="14000"/>
              </a:srgbClr>
            </a:outerShdw>
          </a:effectLst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3810000" y="1962150"/>
            <a:ext cx="38100" cy="876300"/>
          </a:xfrm>
          <a:prstGeom prst="rect">
            <a:avLst/>
          </a:prstGeom>
          <a:solidFill>
            <a:srgbClr val="12BFA5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4000500" y="2181225"/>
            <a:ext cx="438150" cy="438150"/>
          </a:xfrm>
          <a:prstGeom prst="roundRect">
            <a:avLst>
              <a:gd name="adj" fmla="val 28000"/>
            </a:avLst>
          </a:prstGeom>
          <a:solidFill>
            <a:srgbClr val="12BFA5">
              <a:alpha val="8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4000500" y="2181225"/>
            <a:ext cx="4381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zh-CN" sz="1932" b="0" dirty="0">
                <a:solidFill>
                  <a:srgbClr val="142B4A"/>
                </a:solidFill>
                <a:latin typeface="Segoe UI Emoji"/>
                <a:ea typeface="Segoe UI Emoji"/>
                <a:cs typeface="Segoe UI Emoji"/>
              </a:rPr>
              <a:t>🔄</a:t>
            </a:r>
          </a:p>
        </p:txBody>
      </p:sp>
      <p:sp>
        <p:nvSpPr>
          <p:cNvPr id="0" name="t"/>
          <p:cNvSpPr txBox="1"/>
          <p:nvPr/>
        </p:nvSpPr>
        <p:spPr>
          <a:xfrm>
            <a:off x="4629150" y="2133600"/>
            <a:ext cx="68199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55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协议层 · OpenAI 兼容</a:t>
            </a:r>
          </a:p>
        </p:txBody>
      </p:sp>
      <p:sp>
        <p:nvSpPr>
          <p:cNvPr id="0" name="t"/>
          <p:cNvSpPr txBox="1"/>
          <p:nvPr/>
        </p:nvSpPr>
        <p:spPr>
          <a:xfrm>
            <a:off x="4629150" y="2400300"/>
            <a:ext cx="68199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lnSpc>
              <a:spcPct val="150000"/>
            </a:lnSpc>
            <a:pPr algn="l"/>
            <a:r>
              <a:rPr lang="zh-CN" sz="120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SSE 流式解析 · PROFILE_UPDATE 画像抽取 · 思考链折叠 · 演示模式复用同一条解析链路</a:t>
            </a:r>
          </a:p>
        </p:txBody>
      </p:sp>
      <p:sp>
        <p:nvSpPr>
          <p:cNvPr id="0" name="t"/>
          <p:cNvSpPr txBox="1"/>
          <p:nvPr/>
        </p:nvSpPr>
        <p:spPr>
          <a:xfrm>
            <a:off x="7581900" y="2838450"/>
            <a:ext cx="2667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ctr"/>
            <a:r>
              <a:rPr lang="zh-CN" sz="1300" b="0" dirty="0">
                <a:solidFill>
                  <a:srgbClr val="B7C6E6"/>
                </a:solidFill>
                <a:latin typeface="Microsoft YaHei"/>
                <a:ea typeface="Microsoft YaHei"/>
                <a:cs typeface="Microsoft YaHei"/>
              </a:rPr>
              <a:t>▼</a:t>
            </a:r>
          </a:p>
        </p:txBody>
      </p:sp>
      <p:sp>
        <p:nvSpPr>
          <p:cNvPr id="0" name="s"/>
          <p:cNvSpPr/>
          <p:nvPr/>
        </p:nvSpPr>
        <p:spPr>
          <a:xfrm>
            <a:off x="3810000" y="2971800"/>
            <a:ext cx="7810500" cy="87630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DFE7F6">
                <a:alpha val="100000"/>
              </a:srgbClr>
            </a:solidFill>
          </a:ln>
          <a:effectLst>
            <a:outerShdw blurRad="190500" dist="50800" dir="5400000" rotWithShape="0">
              <a:srgbClr val="0B1B3A">
                <a:alpha val="14000"/>
              </a:srgbClr>
            </a:outerShdw>
          </a:effectLst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3810000" y="2971800"/>
            <a:ext cx="38100" cy="8763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4000500" y="3190875"/>
            <a:ext cx="438150" cy="438150"/>
          </a:xfrm>
          <a:prstGeom prst="roundRect">
            <a:avLst>
              <a:gd name="adj" fmla="val 28000"/>
            </a:avLst>
          </a:prstGeom>
          <a:solidFill>
            <a:srgbClr val="FF8A3D">
              <a:alpha val="8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4000500" y="3190875"/>
            <a:ext cx="4381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zh-CN" sz="1932" b="0" dirty="0">
                <a:solidFill>
                  <a:srgbClr val="142B4A"/>
                </a:solidFill>
                <a:latin typeface="Segoe UI Emoji"/>
                <a:ea typeface="Segoe UI Emoji"/>
                <a:cs typeface="Segoe UI Emoji"/>
              </a:rPr>
              <a:t>🤖</a:t>
            </a:r>
          </a:p>
        </p:txBody>
      </p:sp>
      <p:sp>
        <p:nvSpPr>
          <p:cNvPr id="0" name="t"/>
          <p:cNvSpPr txBox="1"/>
          <p:nvPr/>
        </p:nvSpPr>
        <p:spPr>
          <a:xfrm>
            <a:off x="4629150" y="3143250"/>
            <a:ext cx="68199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55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模型层 · 本地运行时</a:t>
            </a:r>
          </a:p>
        </p:txBody>
      </p:sp>
      <p:sp>
        <p:nvSpPr>
          <p:cNvPr id="0" name="t"/>
          <p:cNvSpPr txBox="1"/>
          <p:nvPr/>
        </p:nvSpPr>
        <p:spPr>
          <a:xfrm>
            <a:off x="4629150" y="3409950"/>
            <a:ext cx="68199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lnSpc>
              <a:spcPct val="150000"/>
            </a:lnSpc>
            <a:pPr algn="l"/>
            <a:r>
              <a:rPr lang="zh-CN" sz="120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Bionic / Ollama / LM Studio · OpenAI 兼容接口 · Qwen2.5 / DeepSeek / Llama</a:t>
            </a:r>
          </a:p>
        </p:txBody>
      </p:sp>
      <p:sp>
        <p:nvSpPr>
          <p:cNvPr id="0" name="s"/>
          <p:cNvSpPr/>
          <p:nvPr/>
        </p:nvSpPr>
        <p:spPr>
          <a:xfrm>
            <a:off x="3810000" y="4171950"/>
            <a:ext cx="7810500" cy="457200"/>
          </a:xfrm>
          <a:prstGeom prst="roundRect">
            <a:avLst>
              <a:gd name="adj" fmla="val 25000"/>
            </a:avLst>
          </a:prstGeom>
          <a:solidFill>
            <a:srgbClr val="4C7DFF">
              <a:alpha val="12000"/>
            </a:srgbClr>
          </a:solidFill>
          <a:ln w="12700">
            <a:solidFill>
              <a:srgbClr val="4C7DFF">
                <a:alpha val="100000"/>
              </a:srgbClr>
            </a:solidFill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4038600" y="4305300"/>
            <a:ext cx="73533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zh-CN" sz="1300" b="0" dirty="0">
                <a:solidFill>
                  <a:srgbClr val="FF8A3D"/>
                </a:solidFill>
                <a:latin typeface="Segoe UI Emoji"/>
                <a:ea typeface="Segoe UI Emoji"/>
                <a:cs typeface="Segoe UI Emoji"/>
              </a:rPr>
              <a:t>🔒 </a:t>
            </a:r>
            <a:r>
              <a:rPr lang="zh-CN" sz="1300" b="0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云端 AI：数据上云 · 注册绑定 · 断网不可用　vs　AI 学习伙伴：数据不出机 · 打开即用 · 无账号</a:t>
            </a:r>
          </a:p>
        </p:txBody>
      </p:sp>
      <p:sp>
        <p:nvSpPr>
          <p:cNvPr id="0" name="t"/>
          <p:cNvSpPr txBox="1"/>
          <p:nvPr/>
        </p:nvSpPr>
        <p:spPr>
          <a:xfrm>
            <a:off x="571500" y="655320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150" b="0" dirty="0">
                <a:solidFill>
                  <a:srgbClr val="93A3BF"/>
                </a:solidFill>
                <a:latin typeface="Consolas"/>
                <a:ea typeface="Consolas"/>
                <a:cs typeface="Consolas"/>
              </a:rPr>
              <a:t>AI 学习伙伴 · HACKATHON 2026</a:t>
            </a:r>
          </a:p>
        </p:txBody>
      </p:sp>
      <p:sp>
        <p:nvSpPr>
          <p:cNvPr id="0" name="t"/>
          <p:cNvSpPr txBox="1"/>
          <p:nvPr/>
        </p:nvSpPr>
        <p:spPr>
          <a:xfrm>
            <a:off x="10287000" y="6553200"/>
            <a:ext cx="1333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r"/>
            <a:r>
              <a:rPr lang="zh-CN" sz="1150" b="0" dirty="0">
                <a:solidFill>
                  <a:srgbClr val="93A3BF"/>
                </a:solidFill>
                <a:latin typeface="Consolas"/>
                <a:ea typeface="Consolas"/>
                <a:cs typeface="Consolas"/>
              </a:rPr>
              <a:t>11 / 15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8EC"/>
              </a:gs>
              <a:gs pos="100000">
                <a:srgbClr val="EDF5FF"/>
              </a:gs>
            </a:gsLst>
            <a:lin ang="27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8EC"/>
              </a:gs>
              <a:gs pos="100000">
                <a:srgbClr val="EDF5FF"/>
              </a:gs>
            </a:gsLst>
            <a:lin ang="27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-1333500" y="-1524000"/>
            <a:ext cx="4381500" cy="4381500"/>
          </a:xfrm>
          <a:prstGeom prst="rect">
            <a:avLst/>
          </a:prstGeom>
          <a:gradFill rotWithShape="1">
            <a:gsLst>
              <a:gs pos="0">
                <a:srgbClr val="FFC58A">
                  <a:alpha val="38000"/>
                </a:srgbClr>
              </a:gs>
              <a:gs pos="70000">
                <a:srgbClr val="FFC58A">
                  <a:alpha val="0"/>
                </a:srgbClr>
              </a:gs>
              <a:gs pos="100000">
                <a:srgbClr val="FFC58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571500" y="381000"/>
            <a:ext cx="6667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200" b="1" dirty="0" spc="300">
                <a:solidFill>
                  <a:srgbClr val="4C7DFF"/>
                </a:solidFill>
                <a:latin typeface="Consolas"/>
                <a:ea typeface="Consolas"/>
                <a:cs typeface="Consolas"/>
              </a:rPr>
              <a:t>11 · SAFETY</a:t>
            </a:r>
          </a:p>
        </p:txBody>
      </p:sp>
      <p:sp>
        <p:nvSpPr>
          <p:cNvPr id="0" name="t"/>
          <p:cNvSpPr txBox="1"/>
          <p:nvPr/>
        </p:nvSpPr>
        <p:spPr>
          <a:xfrm>
            <a:off x="571500" y="628650"/>
            <a:ext cx="85725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320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高风险领域，三道防线兜底</a:t>
            </a:r>
          </a:p>
        </p:txBody>
      </p:sp>
      <p:sp>
        <p:nvSpPr>
          <p:cNvPr id="0" name="s"/>
          <p:cNvSpPr/>
          <p:nvPr/>
        </p:nvSpPr>
        <p:spPr>
          <a:xfrm>
            <a:off x="9239250" y="476250"/>
            <a:ext cx="2381250" cy="323850"/>
          </a:xfrm>
          <a:prstGeom prst="roundRect">
            <a:avLst>
              <a:gd name="adj" fmla="val 50000"/>
            </a:avLst>
          </a:prstGeom>
          <a:solidFill>
            <a:srgbClr val="FFF1E3"/>
          </a:solidFill>
          <a:ln w="12700">
            <a:solidFill>
              <a:srgbClr val="FF8A3D">
                <a:alpha val="100000"/>
              </a:srgbClr>
            </a:solidFill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9315450" y="476250"/>
            <a:ext cx="22288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zh-CN" sz="1200" b="1" dirty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🛡️ CPU 你？不可能的</a:t>
            </a:r>
          </a:p>
        </p:txBody>
      </p:sp>
      <p:pic>
        <p:nvPicPr>
          <p:cNvPr id="0" name="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238250"/>
            <a:ext cx="5905500" cy="3695700"/>
          </a:xfrm>
          <a:prstGeom prst="roundRect">
            <a:avLst>
              <a:gd name="adj" fmla="val 3092"/>
            </a:avLst>
          </a:prstGeom>
          <a:ln w="12700">
            <a:solidFill>
              <a:srgbClr val="DFE7F6"/>
            </a:solidFill>
          </a:ln>
          <a:effectLst>
            <a:outerShdw blurRad="190500" dist="50800" dir="5400000" rotWithShape="0">
              <a:srgbClr val="0B1B3A">
                <a:alpha val="14000"/>
              </a:srgbClr>
            </a:outerShdw>
          </a:effectLst>
        </p:spPr>
      </p:pic>
      <p:sp>
        <p:nvSpPr>
          <p:cNvPr id="0" name="s"/>
          <p:cNvSpPr/>
          <p:nvPr/>
        </p:nvSpPr>
        <p:spPr>
          <a:xfrm>
            <a:off x="571500" y="133350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4C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571500" y="1333500"/>
            <a:ext cx="3238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0" name="t"/>
          <p:cNvSpPr txBox="1"/>
          <p:nvPr/>
        </p:nvSpPr>
        <p:spPr>
          <a:xfrm>
            <a:off x="1047750" y="1314450"/>
            <a:ext cx="4286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55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首次使用知情同意</a:t>
            </a:r>
          </a:p>
        </p:txBody>
      </p:sp>
      <p:sp>
        <p:nvSpPr>
          <p:cNvPr id="0" name="t"/>
          <p:cNvSpPr txBox="1"/>
          <p:nvPr/>
        </p:nvSpPr>
        <p:spPr>
          <a:xfrm>
            <a:off x="1047750" y="1581150"/>
            <a:ext cx="4381500" cy="666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lnSpc>
              <a:spcPct val="160000"/>
            </a:lnSpc>
            <a:pPr algn="l"/>
            <a:r>
              <a:rPr lang="zh-CN" sz="125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数据只留本机 / 不构成专业建议 / 危急情况立即求助 / AI 可能出错——四项确认后才能进入主界面（右图实机弹窗）。</a:t>
            </a:r>
          </a:p>
        </p:txBody>
      </p:sp>
      <p:sp>
        <p:nvSpPr>
          <p:cNvPr id="0" name="s"/>
          <p:cNvSpPr/>
          <p:nvPr/>
        </p:nvSpPr>
        <p:spPr>
          <a:xfrm>
            <a:off x="571500" y="232410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4C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571500" y="2324100"/>
            <a:ext cx="3238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0" name="t"/>
          <p:cNvSpPr txBox="1"/>
          <p:nvPr/>
        </p:nvSpPr>
        <p:spPr>
          <a:xfrm>
            <a:off x="1047750" y="2305050"/>
            <a:ext cx="4286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55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常驻免责声明条</a:t>
            </a:r>
          </a:p>
        </p:txBody>
      </p:sp>
      <p:sp>
        <p:nvSpPr>
          <p:cNvPr id="0" name="t"/>
          <p:cNvSpPr txBox="1"/>
          <p:nvPr/>
        </p:nvSpPr>
        <p:spPr>
          <a:xfrm>
            <a:off x="1047750" y="2571750"/>
            <a:ext cx="4381500" cy="666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lnSpc>
              <a:spcPct val="160000"/>
            </a:lnSpc>
            <a:pPr algn="l"/>
            <a:r>
              <a:rPr lang="zh-CN" sz="125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进入心理 / 健康 / 理财角色，输入框上方常驻提示：「心理陪伴不等于心理咨询」，每屏可见、无法忽略。</a:t>
            </a:r>
          </a:p>
        </p:txBody>
      </p:sp>
      <p:sp>
        <p:nvSpPr>
          <p:cNvPr id="0" name="s"/>
          <p:cNvSpPr/>
          <p:nvPr/>
        </p:nvSpPr>
        <p:spPr>
          <a:xfrm>
            <a:off x="571500" y="331470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4C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571500" y="3314700"/>
            <a:ext cx="3238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0" name="t"/>
          <p:cNvSpPr txBox="1"/>
          <p:nvPr/>
        </p:nvSpPr>
        <p:spPr>
          <a:xfrm>
            <a:off x="1047750" y="3295650"/>
            <a:ext cx="4286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55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危机干预卡</a:t>
            </a:r>
          </a:p>
        </p:txBody>
      </p:sp>
      <p:sp>
        <p:nvSpPr>
          <p:cNvPr id="0" name="t"/>
          <p:cNvSpPr txBox="1"/>
          <p:nvPr/>
        </p:nvSpPr>
        <p:spPr>
          <a:xfrm>
            <a:off x="1047750" y="3562350"/>
            <a:ext cx="4381500" cy="666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lnSpc>
              <a:spcPct val="160000"/>
            </a:lnSpc>
            <a:pPr algn="l"/>
            <a:r>
              <a:rPr lang="zh-CN" sz="125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检测到自伤相关表述，立即弹出干预卡：学校心理咨询中心 + 全国 24 小时心理援助热线 12356 + 正规医院就诊路径。</a:t>
            </a:r>
          </a:p>
        </p:txBody>
      </p:sp>
      <p:sp>
        <p:nvSpPr>
          <p:cNvPr id="0" name="s"/>
          <p:cNvSpPr/>
          <p:nvPr/>
        </p:nvSpPr>
        <p:spPr>
          <a:xfrm>
            <a:off x="571500" y="4362450"/>
            <a:ext cx="4857750" cy="590550"/>
          </a:xfrm>
          <a:prstGeom prst="roundRect">
            <a:avLst>
              <a:gd name="adj" fmla="val 19354"/>
            </a:avLst>
          </a:prstGeom>
          <a:solidFill>
            <a:srgbClr val="4C7DFF">
              <a:alpha val="12000"/>
            </a:srgbClr>
          </a:solidFill>
          <a:ln w="12700">
            <a:solidFill>
              <a:srgbClr val="4C7DFF">
                <a:alpha val="100000"/>
              </a:srgbClr>
            </a:solidFill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742950" y="4495800"/>
            <a:ext cx="451485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lnSpc>
              <a:spcPct val="150000"/>
            </a:lnSpc>
            <a:pPr algn="l"/>
            <a:r>
              <a:rPr lang="zh-CN" sz="1350" b="1" dirty="0">
                <a:solidFill>
                  <a:srgbClr val="FF8A3D"/>
                </a:solidFill>
                <a:latin typeface="Microsoft YaHei"/>
                <a:ea typeface="Microsoft YaHei"/>
                <a:cs typeface="Microsoft YaHei"/>
              </a:rPr>
              <a:t>铁则</a:t>
            </a:r>
            <a:r>
              <a:rPr lang="zh-CN" sz="1300" b="0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：心理角色不做临床诊断 · 健康角色不开药 · 理财角色不推荐任何理财产品</a:t>
            </a:r>
          </a:p>
        </p:txBody>
      </p:sp>
      <p:sp>
        <p:nvSpPr>
          <p:cNvPr id="0" name="t"/>
          <p:cNvSpPr txBox="1"/>
          <p:nvPr/>
        </p:nvSpPr>
        <p:spPr>
          <a:xfrm>
            <a:off x="571500" y="655320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150" b="0" dirty="0">
                <a:solidFill>
                  <a:srgbClr val="93A3BF"/>
                </a:solidFill>
                <a:latin typeface="Consolas"/>
                <a:ea typeface="Consolas"/>
                <a:cs typeface="Consolas"/>
              </a:rPr>
              <a:t>AI 学习伙伴 · HACKATHON 2026</a:t>
            </a:r>
          </a:p>
        </p:txBody>
      </p:sp>
      <p:sp>
        <p:nvSpPr>
          <p:cNvPr id="0" name="t"/>
          <p:cNvSpPr txBox="1"/>
          <p:nvPr/>
        </p:nvSpPr>
        <p:spPr>
          <a:xfrm>
            <a:off x="10287000" y="6553200"/>
            <a:ext cx="1333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r"/>
            <a:r>
              <a:rPr lang="zh-CN" sz="1150" b="0" dirty="0">
                <a:solidFill>
                  <a:srgbClr val="93A3BF"/>
                </a:solidFill>
                <a:latin typeface="Consolas"/>
                <a:ea typeface="Consolas"/>
                <a:cs typeface="Consolas"/>
              </a:rPr>
              <a:t>12 / 15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8EC"/>
              </a:gs>
              <a:gs pos="100000">
                <a:srgbClr val="EDF5FF"/>
              </a:gs>
            </a:gsLst>
            <a:lin ang="27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8EC"/>
              </a:gs>
              <a:gs pos="100000">
                <a:srgbClr val="EDF5FF"/>
              </a:gs>
            </a:gsLst>
            <a:lin ang="27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3238500" y="-1714500"/>
            <a:ext cx="5905500" cy="5905500"/>
          </a:xfrm>
          <a:prstGeom prst="rect">
            <a:avLst/>
          </a:prstGeom>
          <a:gradFill rotWithShape="1">
            <a:gsLst>
              <a:gs pos="0">
                <a:srgbClr val="FFC58A">
                  <a:alpha val="38000"/>
                </a:srgbClr>
              </a:gs>
              <a:gs pos="70000">
                <a:srgbClr val="FFC58A">
                  <a:alpha val="0"/>
                </a:srgbClr>
              </a:gs>
              <a:gs pos="100000">
                <a:srgbClr val="FFC58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571500" y="381000"/>
            <a:ext cx="6667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200" b="1" dirty="0" spc="300">
                <a:solidFill>
                  <a:srgbClr val="4C7DFF"/>
                </a:solidFill>
                <a:latin typeface="Consolas"/>
                <a:ea typeface="Consolas"/>
                <a:cs typeface="Consolas"/>
              </a:rPr>
              <a:t>12 · LIVE DEMO</a:t>
            </a:r>
          </a:p>
        </p:txBody>
      </p:sp>
      <p:sp>
        <p:nvSpPr>
          <p:cNvPr id="0" name="t"/>
          <p:cNvSpPr txBox="1"/>
          <p:nvPr/>
        </p:nvSpPr>
        <p:spPr>
          <a:xfrm>
            <a:off x="571500" y="628650"/>
            <a:ext cx="85725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320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现场演示，三步拿下</a:t>
            </a:r>
          </a:p>
        </p:txBody>
      </p:sp>
      <p:sp>
        <p:nvSpPr>
          <p:cNvPr id="0" name="s"/>
          <p:cNvSpPr/>
          <p:nvPr/>
        </p:nvSpPr>
        <p:spPr>
          <a:xfrm>
            <a:off x="9239250" y="476250"/>
            <a:ext cx="2381250" cy="32385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2700">
            <a:solidFill>
              <a:srgbClr val="4C7DFF">
                <a:alpha val="100000"/>
              </a:srgbClr>
            </a:solidFill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9315450" y="476250"/>
            <a:ext cx="22288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zh-CN" sz="1200" b="1" dirty="0">
                <a:solidFill>
                  <a:srgbClr val="2F5FE0"/>
                </a:solidFill>
                <a:latin typeface="Microsoft YaHei"/>
                <a:ea typeface="Microsoft YaHei"/>
                <a:cs typeface="Microsoft YaHei"/>
              </a:rPr>
              <a:t>😎 汗流浃背？不存在的</a:t>
            </a:r>
          </a:p>
        </p:txBody>
      </p:sp>
      <p:sp>
        <p:nvSpPr>
          <p:cNvPr id="0" name="t"/>
          <p:cNvSpPr txBox="1"/>
          <p:nvPr/>
        </p:nvSpPr>
        <p:spPr>
          <a:xfrm>
            <a:off x="571500" y="1143000"/>
            <a:ext cx="2190750" cy="904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9200" b="1" dirty="0">
                <a:solidFill>
                  <a:srgbClr val="12BFA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0" name="t"/>
          <p:cNvSpPr txBox="1"/>
          <p:nvPr/>
        </p:nvSpPr>
        <p:spPr>
          <a:xfrm>
            <a:off x="2047875" y="1504950"/>
            <a:ext cx="17145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90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打开 HTML</a:t>
            </a:r>
          </a:p>
        </p:txBody>
      </p:sp>
      <p:sp>
        <p:nvSpPr>
          <p:cNvPr id="0" name="s"/>
          <p:cNvSpPr/>
          <p:nvPr/>
        </p:nvSpPr>
        <p:spPr>
          <a:xfrm>
            <a:off x="571500" y="2286000"/>
            <a:ext cx="3352800" cy="142875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FE7F6">
                <a:alpha val="100000"/>
              </a:srgbClr>
            </a:solidFill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742950" y="2457450"/>
            <a:ext cx="3009900" cy="1104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lnSpc>
              <a:spcPct val="170000"/>
            </a:lnSpc>
            <a:pPr algn="l"/>
            <a:r>
              <a:rPr lang="zh-CN" sz="130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双击打开，未检测到本地服务时自动进入</a:t>
            </a:r>
            <a:r>
              <a:rPr lang="zh-CN" sz="1300" b="1" dirty="0">
                <a:solidFill>
                  <a:srgbClr val="FF8A3D"/>
                </a:solidFill>
                <a:latin typeface="Microsoft YaHei"/>
                <a:ea typeface="Microsoft YaHei"/>
                <a:cs typeface="Microsoft YaHei"/>
              </a:rPr>
              <a:t>演示模式</a:t>
            </a:r>
            <a:r>
              <a:rPr lang="zh-CN" sz="130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——内置预置回答引擎，无需任何配置即可完整体验。</a:t>
            </a:r>
          </a:p>
        </p:txBody>
      </p:sp>
      <p:sp>
        <p:nvSpPr>
          <p:cNvPr id="0" name="t"/>
          <p:cNvSpPr txBox="1"/>
          <p:nvPr/>
        </p:nvSpPr>
        <p:spPr>
          <a:xfrm>
            <a:off x="3962400" y="2667000"/>
            <a:ext cx="4953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ctr"/>
            <a:r>
              <a:rPr lang="zh-CN" sz="2400" b="0" dirty="0">
                <a:solidFill>
                  <a:srgbClr val="B7C6E6"/>
                </a:solidFill>
                <a:latin typeface="Consolas"/>
                <a:ea typeface="Consolas"/>
                <a:cs typeface="Consolas"/>
              </a:rPr>
              <a:t>→</a:t>
            </a:r>
          </a:p>
        </p:txBody>
      </p:sp>
      <p:sp>
        <p:nvSpPr>
          <p:cNvPr id="0" name="t"/>
          <p:cNvSpPr txBox="1"/>
          <p:nvPr/>
        </p:nvSpPr>
        <p:spPr>
          <a:xfrm>
            <a:off x="4419600" y="1485900"/>
            <a:ext cx="2190750" cy="904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9200" b="1" dirty="0">
                <a:solidFill>
                  <a:srgbClr val="4C7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0" name="t"/>
          <p:cNvSpPr txBox="1"/>
          <p:nvPr/>
        </p:nvSpPr>
        <p:spPr>
          <a:xfrm>
            <a:off x="5895975" y="1847850"/>
            <a:ext cx="17145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90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问一道极限题</a:t>
            </a:r>
          </a:p>
        </p:txBody>
      </p:sp>
      <p:sp>
        <p:nvSpPr>
          <p:cNvPr id="0" name="s"/>
          <p:cNvSpPr/>
          <p:nvPr/>
        </p:nvSpPr>
        <p:spPr>
          <a:xfrm>
            <a:off x="4419600" y="2628900"/>
            <a:ext cx="3352800" cy="142875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FE7F6">
                <a:alpha val="100000"/>
              </a:srgbClr>
            </a:solidFill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4591050" y="2800350"/>
            <a:ext cx="3009900" cy="1104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lnSpc>
              <a:spcPct val="170000"/>
            </a:lnSpc>
            <a:pPr algn="l"/>
            <a:r>
              <a:rPr lang="zh-CN" sz="130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看回答</a:t>
            </a:r>
            <a:r>
              <a:rPr lang="zh-CN" sz="1300" b="1" dirty="0">
                <a:solidFill>
                  <a:srgbClr val="FF8A3D"/>
                </a:solidFill>
                <a:latin typeface="Microsoft YaHei"/>
                <a:ea typeface="Microsoft YaHei"/>
                <a:cs typeface="Microsoft YaHei"/>
              </a:rPr>
              <a:t>逐字流式输出</a:t>
            </a:r>
            <a:r>
              <a:rPr lang="zh-CN" sz="130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，结束后点右上角画像——学习进度和薄弱点已</a:t>
            </a:r>
            <a:r>
              <a:rPr lang="zh-CN" sz="1300" b="1" dirty="0">
                <a:solidFill>
                  <a:srgbClr val="FF8A3D"/>
                </a:solidFill>
                <a:latin typeface="Microsoft YaHei"/>
                <a:ea typeface="Microsoft YaHei"/>
                <a:cs typeface="Microsoft YaHei"/>
              </a:rPr>
              <a:t>自动沉淀</a:t>
            </a:r>
            <a:r>
              <a:rPr lang="zh-CN" sz="130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0" name="t"/>
          <p:cNvSpPr txBox="1"/>
          <p:nvPr/>
        </p:nvSpPr>
        <p:spPr>
          <a:xfrm>
            <a:off x="7810500" y="3009900"/>
            <a:ext cx="4953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ctr"/>
            <a:r>
              <a:rPr lang="zh-CN" sz="2400" b="0" dirty="0">
                <a:solidFill>
                  <a:srgbClr val="B7C6E6"/>
                </a:solidFill>
                <a:latin typeface="Consolas"/>
                <a:ea typeface="Consolas"/>
                <a:cs typeface="Consolas"/>
              </a:rPr>
              <a:t>→</a:t>
            </a:r>
          </a:p>
        </p:txBody>
      </p:sp>
      <p:sp>
        <p:nvSpPr>
          <p:cNvPr id="0" name="t"/>
          <p:cNvSpPr txBox="1"/>
          <p:nvPr/>
        </p:nvSpPr>
        <p:spPr>
          <a:xfrm>
            <a:off x="8267700" y="1828800"/>
            <a:ext cx="2190750" cy="904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9200" b="1" dirty="0">
                <a:solidFill>
                  <a:srgbClr val="FF8A3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0" name="t"/>
          <p:cNvSpPr txBox="1"/>
          <p:nvPr/>
        </p:nvSpPr>
        <p:spPr>
          <a:xfrm>
            <a:off x="9744075" y="2190750"/>
            <a:ext cx="17145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90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切到心理老师</a:t>
            </a:r>
          </a:p>
        </p:txBody>
      </p:sp>
      <p:sp>
        <p:nvSpPr>
          <p:cNvPr id="0" name="s"/>
          <p:cNvSpPr/>
          <p:nvPr/>
        </p:nvSpPr>
        <p:spPr>
          <a:xfrm>
            <a:off x="8267700" y="2971800"/>
            <a:ext cx="3352800" cy="1428750"/>
          </a:xfrm>
          <a:prstGeom prst="roundRect">
            <a:avLst>
              <a:gd name="adj" fmla="val 9333"/>
            </a:avLst>
          </a:prstGeom>
          <a:solidFill>
            <a:srgbClr val="FFF1E3"/>
          </a:solidFill>
          <a:ln w="12700">
            <a:solidFill>
              <a:srgbClr val="4C7DFF">
                <a:alpha val="40000"/>
              </a:srgbClr>
            </a:solidFill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8439150" y="3143250"/>
            <a:ext cx="3009900" cy="1104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lnSpc>
              <a:spcPct val="170000"/>
            </a:lnSpc>
            <a:pPr algn="l"/>
            <a:r>
              <a:rPr lang="zh-CN" sz="1300" b="0" dirty="0">
                <a:solidFill>
                  <a:srgbClr val="2F5FE0"/>
                </a:solidFill>
                <a:latin typeface="Microsoft YaHei"/>
                <a:ea typeface="Microsoft YaHei"/>
                <a:cs typeface="Microsoft YaHei"/>
              </a:rPr>
              <a:t>顶部弹出「还记得你刚说过的事」——</a:t>
            </a:r>
            <a:r>
              <a:rPr lang="zh-CN" sz="1300" b="1" dirty="0">
                <a:solidFill>
                  <a:srgbClr val="2F5FE0"/>
                </a:solidFill>
                <a:latin typeface="Microsoft YaHei"/>
                <a:ea typeface="Microsoft YaHei"/>
                <a:cs typeface="Microsoft YaHei"/>
              </a:rPr>
              <a:t>跨角色记忆</a:t>
            </a:r>
            <a:r>
              <a:rPr lang="zh-CN" sz="1300" b="0" dirty="0">
                <a:solidFill>
                  <a:srgbClr val="2F5FE0"/>
                </a:solidFill>
                <a:latin typeface="Microsoft YaHei"/>
                <a:ea typeface="Microsoft YaHei"/>
                <a:cs typeface="Microsoft YaHei"/>
              </a:rPr>
              <a:t>当场验证，这是全场最容易被记住的一幕。</a:t>
            </a:r>
          </a:p>
        </p:txBody>
      </p:sp>
      <p:sp>
        <p:nvSpPr>
          <p:cNvPr id="0" name="s"/>
          <p:cNvSpPr/>
          <p:nvPr/>
        </p:nvSpPr>
        <p:spPr>
          <a:xfrm>
            <a:off x="571500" y="4876800"/>
            <a:ext cx="1104900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FE7F6">
                <a:alpha val="100000"/>
              </a:srgbClr>
            </a:solidFill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800100" y="501015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zh-CN" sz="1300" b="0" dirty="0">
                <a:solidFill>
                  <a:srgbClr val="FF8A3D"/>
                </a:solidFill>
                <a:latin typeface="Segoe UI Emoji"/>
                <a:ea typeface="Segoe UI Emoji"/>
                <a:cs typeface="Segoe UI Emoji"/>
              </a:rPr>
              <a:t>🔌 </a:t>
            </a:r>
            <a:r>
              <a:rPr lang="zh-CN" sz="130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真机模式：在「高级设置」填入本地模型地址（Bionic / Ollama）即为真实推理——演示与真机走同一条解析链路，现场效果零风险。</a:t>
            </a:r>
          </a:p>
        </p:txBody>
      </p:sp>
      <p:sp>
        <p:nvSpPr>
          <p:cNvPr id="0" name="t"/>
          <p:cNvSpPr txBox="1"/>
          <p:nvPr/>
        </p:nvSpPr>
        <p:spPr>
          <a:xfrm>
            <a:off x="571500" y="655320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150" b="0" dirty="0">
                <a:solidFill>
                  <a:srgbClr val="93A3BF"/>
                </a:solidFill>
                <a:latin typeface="Consolas"/>
                <a:ea typeface="Consolas"/>
                <a:cs typeface="Consolas"/>
              </a:rPr>
              <a:t>AI 学习伙伴 · HACKATHON 2026</a:t>
            </a:r>
          </a:p>
        </p:txBody>
      </p:sp>
      <p:sp>
        <p:nvSpPr>
          <p:cNvPr id="0" name="t"/>
          <p:cNvSpPr txBox="1"/>
          <p:nvPr/>
        </p:nvSpPr>
        <p:spPr>
          <a:xfrm>
            <a:off x="10287000" y="6553200"/>
            <a:ext cx="1333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r"/>
            <a:r>
              <a:rPr lang="zh-CN" sz="1150" b="0" dirty="0">
                <a:solidFill>
                  <a:srgbClr val="93A3BF"/>
                </a:solidFill>
                <a:latin typeface="Consolas"/>
                <a:ea typeface="Consolas"/>
                <a:cs typeface="Consolas"/>
              </a:rPr>
              <a:t>13 / 15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8EC"/>
              </a:gs>
              <a:gs pos="100000">
                <a:srgbClr val="EDF5FF"/>
              </a:gs>
            </a:gsLst>
            <a:lin ang="27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8EC"/>
              </a:gs>
              <a:gs pos="100000">
                <a:srgbClr val="EDF5FF"/>
              </a:gs>
            </a:gsLst>
            <a:lin ang="27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8382000" y="-1524000"/>
            <a:ext cx="4762500" cy="4762500"/>
          </a:xfrm>
          <a:prstGeom prst="rect">
            <a:avLst/>
          </a:prstGeom>
          <a:gradFill rotWithShape="1">
            <a:gsLst>
              <a:gs pos="0">
                <a:srgbClr val="9CC4FF">
                  <a:alpha val="38000"/>
                </a:srgbClr>
              </a:gs>
              <a:gs pos="70000">
                <a:srgbClr val="9CC4FF">
                  <a:alpha val="0"/>
                </a:srgbClr>
              </a:gs>
              <a:gs pos="100000">
                <a:srgbClr val="9CC4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571500" y="381000"/>
            <a:ext cx="6667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200" b="1" dirty="0" spc="300">
                <a:solidFill>
                  <a:srgbClr val="4C7DFF"/>
                </a:solidFill>
                <a:latin typeface="Consolas"/>
                <a:ea typeface="Consolas"/>
                <a:cs typeface="Consolas"/>
              </a:rPr>
              <a:t>13 · ROADMAP</a:t>
            </a:r>
          </a:p>
        </p:txBody>
      </p:sp>
      <p:sp>
        <p:nvSpPr>
          <p:cNvPr id="0" name="t"/>
          <p:cNvSpPr txBox="1"/>
          <p:nvPr/>
        </p:nvSpPr>
        <p:spPr>
          <a:xfrm>
            <a:off x="571500" y="628650"/>
            <a:ext cx="85725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320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从黑客松原型，到校园级产品</a:t>
            </a:r>
          </a:p>
        </p:txBody>
      </p:sp>
      <p:sp>
        <p:nvSpPr>
          <p:cNvPr id="0" name="s"/>
          <p:cNvSpPr/>
          <p:nvPr/>
        </p:nvSpPr>
        <p:spPr>
          <a:xfrm>
            <a:off x="9239250" y="476250"/>
            <a:ext cx="2381250" cy="323850"/>
          </a:xfrm>
          <a:prstGeom prst="roundRect">
            <a:avLst>
              <a:gd name="adj" fmla="val 50000"/>
            </a:avLst>
          </a:prstGeom>
          <a:solidFill>
            <a:srgbClr val="FFF1E3"/>
          </a:solidFill>
          <a:ln w="12700">
            <a:solidFill>
              <a:srgbClr val="FF8A3D">
                <a:alpha val="100000"/>
              </a:srgbClr>
            </a:solidFill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9315450" y="476250"/>
            <a:ext cx="22288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zh-CN" sz="1200" b="1" dirty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📣 为你的专业打 call</a:t>
            </a:r>
          </a:p>
        </p:txBody>
      </p:sp>
      <p:sp>
        <p:nvSpPr>
          <p:cNvPr id="0" name="s"/>
          <p:cNvSpPr/>
          <p:nvPr/>
        </p:nvSpPr>
        <p:spPr>
          <a:xfrm>
            <a:off x="1009650" y="1333500"/>
            <a:ext cx="3009900" cy="28575"/>
          </a:xfrm>
          <a:prstGeom prst="roundRect">
            <a:avLst>
              <a:gd name="adj" fmla="val 66666"/>
            </a:avLst>
          </a:prstGeom>
          <a:gradFill rotWithShape="1">
            <a:gsLst>
              <a:gs pos="0">
                <a:srgbClr val="4C7DFF"/>
              </a:gs>
              <a:gs pos="100000">
                <a:srgbClr val="12BFA5"/>
              </a:gs>
            </a:gsLst>
            <a:lin ang="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4324350" y="1333500"/>
            <a:ext cx="3009900" cy="28575"/>
          </a:xfrm>
          <a:prstGeom prst="roundRect">
            <a:avLst>
              <a:gd name="adj" fmla="val 66666"/>
            </a:avLst>
          </a:prstGeom>
          <a:gradFill rotWithShape="1">
            <a:gsLst>
              <a:gs pos="0">
                <a:srgbClr val="12BFA5"/>
              </a:gs>
              <a:gs pos="100000">
                <a:srgbClr val="FF8A3D"/>
              </a:gs>
            </a:gsLst>
            <a:lin ang="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7639050" y="1333500"/>
            <a:ext cx="3048000" cy="28575"/>
          </a:xfrm>
          <a:prstGeom prst="roundRect">
            <a:avLst>
              <a:gd name="adj" fmla="val 66666"/>
            </a:avLst>
          </a:prstGeom>
          <a:solidFill>
            <a:srgbClr val="DFE7F6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800100" y="1276350"/>
            <a:ext cx="266700" cy="266700"/>
          </a:xfrm>
          <a:prstGeom prst="roundRect">
            <a:avLst>
              <a:gd name="adj" fmla="val 100000"/>
            </a:avLst>
          </a:prstGeom>
          <a:solidFill>
            <a:srgbClr val="4C7DFF">
              <a:alpha val="2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857250" y="1333500"/>
            <a:ext cx="152400" cy="152400"/>
          </a:xfrm>
          <a:prstGeom prst="roundRect">
            <a:avLst>
              <a:gd name="adj" fmla="val 100000"/>
            </a:avLst>
          </a:prstGeom>
          <a:solidFill>
            <a:srgbClr val="4C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4114800" y="1276350"/>
            <a:ext cx="266700" cy="266700"/>
          </a:xfrm>
          <a:prstGeom prst="roundRect">
            <a:avLst>
              <a:gd name="adj" fmla="val 100000"/>
            </a:avLst>
          </a:prstGeom>
          <a:solidFill>
            <a:srgbClr val="12BFA5">
              <a:alpha val="2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4171950" y="1333500"/>
            <a:ext cx="152400" cy="152400"/>
          </a:xfrm>
          <a:prstGeom prst="roundRect">
            <a:avLst>
              <a:gd name="adj" fmla="val 100000"/>
            </a:avLst>
          </a:prstGeom>
          <a:solidFill>
            <a:srgbClr val="12BFA5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7429500" y="1276350"/>
            <a:ext cx="266700" cy="266700"/>
          </a:xfrm>
          <a:prstGeom prst="roundRect">
            <a:avLst>
              <a:gd name="adj" fmla="val 100000"/>
            </a:avLst>
          </a:prstGeom>
          <a:solidFill>
            <a:srgbClr val="FF8A3D">
              <a:alpha val="2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7486650" y="1333500"/>
            <a:ext cx="152400" cy="152400"/>
          </a:xfrm>
          <a:prstGeom prst="roundRect">
            <a:avLst>
              <a:gd name="adj" fmla="val 100000"/>
            </a:avLst>
          </a:prstGeom>
          <a:solidFill>
            <a:srgbClr val="FF8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10668000" y="1200150"/>
            <a:ext cx="3810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2000" b="0" dirty="0">
                <a:solidFill>
                  <a:srgbClr val="142B4A"/>
                </a:solidFill>
                <a:latin typeface="Segoe UI Emoji"/>
                <a:ea typeface="Segoe UI Emoji"/>
                <a:cs typeface="Segoe UI Emoji"/>
              </a:rPr>
              <a:t>🏁</a:t>
            </a:r>
          </a:p>
        </p:txBody>
      </p:sp>
      <p:sp>
        <p:nvSpPr>
          <p:cNvPr id="0" name="s"/>
          <p:cNvSpPr/>
          <p:nvPr/>
        </p:nvSpPr>
        <p:spPr>
          <a:xfrm>
            <a:off x="571500" y="1714500"/>
            <a:ext cx="3486150" cy="2667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7F6">
                <a:alpha val="100000"/>
              </a:srgbClr>
            </a:solidFill>
          </a:ln>
          <a:effectLst>
            <a:outerShdw blurRad="190500" dist="50800" dir="5400000" rotWithShape="0">
              <a:srgbClr val="0B1B3A">
                <a:alpha val="14000"/>
              </a:srgbClr>
            </a:outerShdw>
          </a:effectLst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571500" y="1714500"/>
            <a:ext cx="3486150" cy="38100"/>
          </a:xfrm>
          <a:prstGeom prst="rect">
            <a:avLst/>
          </a:prstGeom>
          <a:solidFill>
            <a:srgbClr val="4C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762000" y="1924050"/>
            <a:ext cx="31051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150" b="1" dirty="0" spc="200">
                <a:solidFill>
                  <a:srgbClr val="4C7DFF"/>
                </a:solidFill>
                <a:latin typeface="Consolas"/>
                <a:ea typeface="Consolas"/>
                <a:cs typeface="Consolas"/>
              </a:rPr>
              <a:t>NOW · V6</a:t>
            </a:r>
          </a:p>
        </p:txBody>
      </p:sp>
      <p:sp>
        <p:nvSpPr>
          <p:cNvPr id="0" name="t"/>
          <p:cNvSpPr txBox="1"/>
          <p:nvPr/>
        </p:nvSpPr>
        <p:spPr>
          <a:xfrm>
            <a:off x="762000" y="2152650"/>
            <a:ext cx="31051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90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原型验证完成</a:t>
            </a:r>
          </a:p>
        </p:txBody>
      </p:sp>
      <p:sp>
        <p:nvSpPr>
          <p:cNvPr id="0" name="t"/>
          <p:cNvSpPr txBox="1"/>
          <p:nvPr/>
        </p:nvSpPr>
        <p:spPr>
          <a:xfrm>
            <a:off x="762000" y="2533650"/>
            <a:ext cx="3105150" cy="1714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lnSpc>
              <a:spcPct val="200000"/>
            </a:lnSpc>
            <a:pPr algn="l"/>
            <a:r>
              <a:rPr lang="zh-CN" sz="130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· 五角色 + 共享学生画像</a:t>
            </a:r>
          </a:p>
          <a:p>
            <a:r>
              <a:rPr lang="zh-CN" sz="130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· 本地推理对接（Bionic / Ollama）</a:t>
            </a:r>
          </a:p>
          <a:p>
            <a:r>
              <a:rPr lang="zh-CN" sz="130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· 语音助手全屏通话上线</a:t>
            </a:r>
          </a:p>
          <a:p>
            <a:r>
              <a:rPr lang="zh-CN" sz="130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· 三道安全防线 + 演示模式</a:t>
            </a:r>
          </a:p>
        </p:txBody>
      </p:sp>
      <p:sp>
        <p:nvSpPr>
          <p:cNvPr id="0" name="s"/>
          <p:cNvSpPr/>
          <p:nvPr/>
        </p:nvSpPr>
        <p:spPr>
          <a:xfrm>
            <a:off x="4248150" y="1714500"/>
            <a:ext cx="3486150" cy="2667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7F6">
                <a:alpha val="100000"/>
              </a:srgbClr>
            </a:solidFill>
          </a:ln>
          <a:effectLst>
            <a:outerShdw blurRad="190500" dist="50800" dir="5400000" rotWithShape="0">
              <a:srgbClr val="0B1B3A">
                <a:alpha val="14000"/>
              </a:srgbClr>
            </a:outerShdw>
          </a:effectLst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4248150" y="1714500"/>
            <a:ext cx="3486150" cy="38100"/>
          </a:xfrm>
          <a:prstGeom prst="rect">
            <a:avLst/>
          </a:prstGeom>
          <a:solidFill>
            <a:srgbClr val="12BFA5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4438650" y="1924050"/>
            <a:ext cx="31051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150" b="1" dirty="0" spc="200">
                <a:solidFill>
                  <a:srgbClr val="12BFA5"/>
                </a:solidFill>
                <a:latin typeface="Consolas"/>
                <a:ea typeface="Consolas"/>
                <a:cs typeface="Consolas"/>
              </a:rPr>
              <a:t>3 个月 · 校园试点</a:t>
            </a:r>
          </a:p>
        </p:txBody>
      </p:sp>
      <p:sp>
        <p:nvSpPr>
          <p:cNvPr id="0" name="t"/>
          <p:cNvSpPr txBox="1"/>
          <p:nvPr/>
        </p:nvSpPr>
        <p:spPr>
          <a:xfrm>
            <a:off x="4438650" y="2152650"/>
            <a:ext cx="31051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90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接入真实校园数据</a:t>
            </a:r>
          </a:p>
        </p:txBody>
      </p:sp>
      <p:sp>
        <p:nvSpPr>
          <p:cNvPr id="0" name="t"/>
          <p:cNvSpPr txBox="1"/>
          <p:nvPr/>
        </p:nvSpPr>
        <p:spPr>
          <a:xfrm>
            <a:off x="4438650" y="2533650"/>
            <a:ext cx="3105150" cy="1714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lnSpc>
              <a:spcPct val="200000"/>
            </a:lnSpc>
            <a:pPr algn="l"/>
            <a:r>
              <a:rPr lang="zh-CN" sz="130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· 对接学校课表 / 教务系统</a:t>
            </a:r>
          </a:p>
          <a:p>
            <a:r>
              <a:rPr lang="zh-CN" sz="130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· 高数题库与编程题量扩充</a:t>
            </a:r>
          </a:p>
          <a:p>
            <a:r>
              <a:rPr lang="zh-CN" sz="130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· 多设备画像同步（端到端加密）</a:t>
            </a:r>
          </a:p>
          <a:p>
            <a:r>
              <a:rPr lang="zh-CN" sz="130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· 与校心理咨询中心建立联动</a:t>
            </a:r>
          </a:p>
        </p:txBody>
      </p:sp>
      <p:sp>
        <p:nvSpPr>
          <p:cNvPr id="0" name="s"/>
          <p:cNvSpPr/>
          <p:nvPr/>
        </p:nvSpPr>
        <p:spPr>
          <a:xfrm>
            <a:off x="7924800" y="1714500"/>
            <a:ext cx="3486150" cy="2667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7F6">
                <a:alpha val="100000"/>
              </a:srgbClr>
            </a:solidFill>
          </a:ln>
          <a:effectLst>
            <a:outerShdw blurRad="190500" dist="50800" dir="5400000" rotWithShape="0">
              <a:srgbClr val="0B1B3A">
                <a:alpha val="14000"/>
              </a:srgbClr>
            </a:outerShdw>
          </a:effectLst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7924800" y="1714500"/>
            <a:ext cx="3486150" cy="381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8115300" y="1924050"/>
            <a:ext cx="31051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150" b="1" dirty="0" spc="200">
                <a:solidFill>
                  <a:srgbClr val="FF8A3D"/>
                </a:solidFill>
                <a:latin typeface="Consolas"/>
                <a:ea typeface="Consolas"/>
                <a:cs typeface="Consolas"/>
              </a:rPr>
              <a:t>6-12 个月 · 平台化</a:t>
            </a:r>
          </a:p>
        </p:txBody>
      </p:sp>
      <p:sp>
        <p:nvSpPr>
          <p:cNvPr id="0" name="t"/>
          <p:cNvSpPr txBox="1"/>
          <p:nvPr/>
        </p:nvSpPr>
        <p:spPr>
          <a:xfrm>
            <a:off x="8115300" y="2152650"/>
            <a:ext cx="31051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90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生态与共建</a:t>
            </a:r>
          </a:p>
        </p:txBody>
      </p:sp>
      <p:sp>
        <p:nvSpPr>
          <p:cNvPr id="0" name="t"/>
          <p:cNvSpPr txBox="1"/>
          <p:nvPr/>
        </p:nvSpPr>
        <p:spPr>
          <a:xfrm>
            <a:off x="8115300" y="2533650"/>
            <a:ext cx="3105150" cy="1714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lnSpc>
              <a:spcPct val="200000"/>
            </a:lnSpc>
            <a:pPr algn="l"/>
            <a:r>
              <a:rPr lang="zh-CN" sz="130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· 教师端：布置作业、查看学情</a:t>
            </a:r>
          </a:p>
          <a:p>
            <a:r>
              <a:rPr lang="zh-CN" sz="130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· 角色插件化：学校自定义角色</a:t>
            </a:r>
          </a:p>
          <a:p>
            <a:r>
              <a:rPr lang="zh-CN" sz="130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· 本地小模型蒸馏优化</a:t>
            </a:r>
          </a:p>
          <a:p>
            <a:r>
              <a:rPr lang="zh-CN" sz="130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· 开源社区与高校合作</a:t>
            </a:r>
          </a:p>
        </p:txBody>
      </p:sp>
      <p:sp>
        <p:nvSpPr>
          <p:cNvPr id="0" name="t"/>
          <p:cNvSpPr txBox="1"/>
          <p:nvPr/>
        </p:nvSpPr>
        <p:spPr>
          <a:xfrm>
            <a:off x="571500" y="468630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ctr"/>
            <a:r>
              <a:rPr lang="zh-CN" sz="1600" b="0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愿景：</a:t>
            </a:r>
            <a:r>
              <a:rPr lang="zh-CN" sz="1600" b="1" dirty="0">
                <a:solidFill>
                  <a:srgbClr val="12BFA5"/>
                </a:solidFill>
                <a:latin typeface="Microsoft YaHei"/>
                <a:ea typeface="Microsoft YaHei"/>
                <a:cs typeface="Microsoft YaHei"/>
              </a:rPr>
              <a:t>每个大学生都有一个懂自己、不窥探隐私的 AI 学习伙伴</a:t>
            </a:r>
          </a:p>
        </p:txBody>
      </p:sp>
      <p:sp>
        <p:nvSpPr>
          <p:cNvPr id="0" name="t"/>
          <p:cNvSpPr txBox="1"/>
          <p:nvPr/>
        </p:nvSpPr>
        <p:spPr>
          <a:xfrm>
            <a:off x="571500" y="655320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150" b="0" dirty="0">
                <a:solidFill>
                  <a:srgbClr val="93A3BF"/>
                </a:solidFill>
                <a:latin typeface="Consolas"/>
                <a:ea typeface="Consolas"/>
                <a:cs typeface="Consolas"/>
              </a:rPr>
              <a:t>AI 学习伙伴 · HACKATHON 2026</a:t>
            </a:r>
          </a:p>
        </p:txBody>
      </p:sp>
      <p:sp>
        <p:nvSpPr>
          <p:cNvPr id="0" name="t"/>
          <p:cNvSpPr txBox="1"/>
          <p:nvPr/>
        </p:nvSpPr>
        <p:spPr>
          <a:xfrm>
            <a:off x="10287000" y="6553200"/>
            <a:ext cx="1333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r"/>
            <a:r>
              <a:rPr lang="zh-CN" sz="1150" b="0" dirty="0">
                <a:solidFill>
                  <a:srgbClr val="93A3BF"/>
                </a:solidFill>
                <a:latin typeface="Consolas"/>
                <a:ea typeface="Consolas"/>
                <a:cs typeface="Consolas"/>
              </a:rPr>
              <a:t>14 / 15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8EC"/>
              </a:gs>
              <a:gs pos="100000">
                <a:srgbClr val="EDF5FF"/>
              </a:gs>
            </a:gsLst>
            <a:lin ang="27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8EC"/>
              </a:gs>
              <a:gs pos="100000">
                <a:srgbClr val="EDF5FF"/>
              </a:gs>
            </a:gsLst>
            <a:lin ang="27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2667000" y="-2095500"/>
            <a:ext cx="6096000" cy="6096000"/>
          </a:xfrm>
          <a:prstGeom prst="rect">
            <a:avLst/>
          </a:prstGeom>
          <a:gradFill rotWithShape="1">
            <a:gsLst>
              <a:gs pos="0">
                <a:srgbClr val="FFC58A">
                  <a:alpha val="38000"/>
                </a:srgbClr>
              </a:gs>
              <a:gs pos="70000">
                <a:srgbClr val="FFC58A">
                  <a:alpha val="0"/>
                </a:srgbClr>
              </a:gs>
              <a:gs pos="100000">
                <a:srgbClr val="FFC58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/>
        </p:txBody>
      </p:sp>
      <p:sp>
        <p:nvSpPr>
          <p:cNvPr id="0" name="s"/>
          <p:cNvSpPr/>
          <p:nvPr/>
        </p:nvSpPr>
        <p:spPr>
          <a:xfrm>
            <a:off x="7239000" y="3619500"/>
            <a:ext cx="6477000" cy="6477000"/>
          </a:xfrm>
          <a:prstGeom prst="rect">
            <a:avLst/>
          </a:prstGeom>
          <a:gradFill rotWithShape="1">
            <a:gsLst>
              <a:gs pos="0">
                <a:srgbClr val="9CC4FF">
                  <a:alpha val="38000"/>
                </a:srgbClr>
              </a:gs>
              <a:gs pos="70000">
                <a:srgbClr val="9CC4FF">
                  <a:alpha val="0"/>
                </a:srgbClr>
              </a:gs>
              <a:gs pos="100000">
                <a:srgbClr val="9CC4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2286000" y="1866900"/>
            <a:ext cx="76200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ctr"/>
            <a:r>
              <a:rPr lang="zh-CN" sz="1250" b="1" dirty="0" spc="400">
                <a:solidFill>
                  <a:srgbClr val="FF8A3D"/>
                </a:solidFill>
                <a:latin typeface="Consolas"/>
                <a:ea typeface="Consolas"/>
                <a:cs typeface="Consolas"/>
              </a:rPr>
              <a:t>AI 学习伙伴 · HACKATHON 2026</a:t>
            </a:r>
          </a:p>
        </p:txBody>
      </p:sp>
      <p:sp>
        <p:nvSpPr>
          <p:cNvPr id="0" name="t"/>
          <p:cNvSpPr txBox="1"/>
          <p:nvPr/>
        </p:nvSpPr>
        <p:spPr>
          <a:xfrm>
            <a:off x="1333500" y="2400300"/>
            <a:ext cx="9525000" cy="1428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lnSpc>
              <a:spcPct val="140000"/>
            </a:lnSpc>
            <a:pPr algn="ctr"/>
            <a:r>
              <a:rPr lang="zh-CN" sz="440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每个大学生，都值得一个</a:t>
            </a:r>
          </a:p>
          <a:p>
            <a:r>
              <a:rPr lang="zh-CN" sz="440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lang="zh-CN" sz="4400" b="1" dirty="0">
                <a:solidFill>
                  <a:srgbClr val="12BFA5"/>
                </a:solidFill>
                <a:latin typeface="Microsoft YaHei"/>
                <a:ea typeface="Microsoft YaHei"/>
                <a:cs typeface="Microsoft YaHei"/>
              </a:rPr>
              <a:t>懂你、又不窥探你</a:t>
            </a:r>
            <a:r>
              <a:rPr lang="zh-CN" sz="440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 的 AI 学习搭子</a:t>
            </a:r>
          </a:p>
        </p:txBody>
      </p:sp>
      <p:sp>
        <p:nvSpPr>
          <p:cNvPr id="0" name="s"/>
          <p:cNvSpPr/>
          <p:nvPr/>
        </p:nvSpPr>
        <p:spPr>
          <a:xfrm>
            <a:off x="3819525" y="4305300"/>
            <a:ext cx="142875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FE7F6">
                <a:alpha val="100000"/>
              </a:srgbClr>
            </a:solidFill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3819525" y="4305300"/>
            <a:ext cx="142875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zh-CN" sz="1300" b="0" dirty="0">
                <a:solidFill>
                  <a:srgbClr val="142B4A"/>
                </a:solidFill>
                <a:latin typeface="Segoe UI Emoji"/>
                <a:ea typeface="Segoe UI Emoji"/>
                <a:cs typeface="Segoe UI Emoji"/>
              </a:rPr>
              <a:t>⚙️  </a:t>
            </a:r>
            <a:r>
              <a:rPr lang="zh-CN" sz="135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本地推理</a:t>
            </a:r>
          </a:p>
        </p:txBody>
      </p:sp>
      <p:sp>
        <p:nvSpPr>
          <p:cNvPr id="0" name="s"/>
          <p:cNvSpPr/>
          <p:nvPr/>
        </p:nvSpPr>
        <p:spPr>
          <a:xfrm>
            <a:off x="5381625" y="4305300"/>
            <a:ext cx="142875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FE7F6">
                <a:alpha val="100000"/>
              </a:srgbClr>
            </a:solidFill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5381625" y="4305300"/>
            <a:ext cx="142875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zh-CN" sz="1300" b="0" dirty="0">
                <a:solidFill>
                  <a:srgbClr val="142B4A"/>
                </a:solidFill>
                <a:latin typeface="Segoe UI Emoji"/>
                <a:ea typeface="Segoe UI Emoji"/>
                <a:cs typeface="Segoe UI Emoji"/>
              </a:rPr>
              <a:t>🧠  </a:t>
            </a:r>
            <a:r>
              <a:rPr lang="zh-CN" sz="135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共享记忆</a:t>
            </a:r>
          </a:p>
        </p:txBody>
      </p:sp>
      <p:sp>
        <p:nvSpPr>
          <p:cNvPr id="0" name="s"/>
          <p:cNvSpPr/>
          <p:nvPr/>
        </p:nvSpPr>
        <p:spPr>
          <a:xfrm>
            <a:off x="6943725" y="4305300"/>
            <a:ext cx="1428750" cy="381000"/>
          </a:xfrm>
          <a:prstGeom prst="roundRect">
            <a:avLst>
              <a:gd name="adj" fmla="val 50000"/>
            </a:avLst>
          </a:prstGeom>
          <a:solidFill>
            <a:srgbClr val="FFF1E3"/>
          </a:solidFill>
          <a:ln w="12700">
            <a:solidFill>
              <a:srgbClr val="4C7DFF">
                <a:alpha val="100000"/>
              </a:srgbClr>
            </a:solidFill>
          </a:ln>
        </p:spPr>
        <p:txBody>
          <a:bodyPr/>
          <a:lstStyle/>
          <a:p/>
        </p:txBody>
      </p:sp>
      <p:sp>
        <p:nvSpPr>
          <p:cNvPr id="0" name="t"/>
          <p:cNvSpPr txBox="1"/>
          <p:nvPr/>
        </p:nvSpPr>
        <p:spPr>
          <a:xfrm>
            <a:off x="6943725" y="4305300"/>
            <a:ext cx="142875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zh-CN" sz="1300" b="0" dirty="0">
                <a:solidFill>
                  <a:srgbClr val="142B4A"/>
                </a:solidFill>
                <a:latin typeface="Segoe UI Emoji"/>
                <a:ea typeface="Segoe UI Emoji"/>
                <a:cs typeface="Segoe UI Emoji"/>
              </a:rPr>
              <a:t>🛡️  </a:t>
            </a:r>
            <a:r>
              <a:rPr lang="zh-CN" sz="1350" b="1" dirty="0">
                <a:solidFill>
                  <a:srgbClr val="142B4A"/>
                </a:solidFill>
                <a:latin typeface="Microsoft YaHei"/>
                <a:ea typeface="Microsoft YaHei"/>
                <a:cs typeface="Microsoft YaHei"/>
              </a:rPr>
              <a:t>隐私零上传</a:t>
            </a:r>
          </a:p>
        </p:txBody>
      </p:sp>
      <p:sp>
        <p:nvSpPr>
          <p:cNvPr id="0" name="t"/>
          <p:cNvSpPr txBox="1"/>
          <p:nvPr/>
        </p:nvSpPr>
        <p:spPr>
          <a:xfrm>
            <a:off x="2286000" y="5067300"/>
            <a:ext cx="76200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ctr"/>
            <a:r>
              <a:rPr lang="zh-CN" sz="1500" b="0" dirty="0">
                <a:solidFill>
                  <a:srgbClr val="5A6C88"/>
                </a:solidFill>
                <a:latin typeface="Microsoft YaHei"/>
                <a:ea typeface="Microsoft YaHei"/>
                <a:cs typeface="Microsoft YaHei"/>
              </a:rPr>
              <a:t>谢谢观看 · 这班就上到这儿，欢迎现场上手体验 🫡</a:t>
            </a:r>
          </a:p>
        </p:txBody>
      </p:sp>
      <p:sp>
        <p:nvSpPr>
          <p:cNvPr id="0" name="t"/>
          <p:cNvSpPr txBox="1"/>
          <p:nvPr/>
        </p:nvSpPr>
        <p:spPr>
          <a:xfrm>
            <a:off x="571500" y="655320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zh-CN" sz="1150" b="0" dirty="0">
                <a:solidFill>
                  <a:srgbClr val="93A3BF"/>
                </a:solidFill>
                <a:latin typeface="Consolas"/>
                <a:ea typeface="Consolas"/>
                <a:cs typeface="Consolas"/>
              </a:rPr>
              <a:t>单 HTML 离线优先 · 对接 Bionic / Ollama</a:t>
            </a:r>
          </a:p>
        </p:txBody>
      </p:sp>
      <p:sp>
        <p:nvSpPr>
          <p:cNvPr id="0" name="t"/>
          <p:cNvSpPr txBox="1"/>
          <p:nvPr/>
        </p:nvSpPr>
        <p:spPr>
          <a:xfrm>
            <a:off x="10287000" y="6553200"/>
            <a:ext cx="1333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r"/>
            <a:r>
              <a:rPr lang="zh-CN" sz="1150" b="0" dirty="0">
                <a:solidFill>
                  <a:srgbClr val="93A3BF"/>
                </a:solidFill>
                <a:latin typeface="Consolas"/>
                <a:ea typeface="Consolas"/>
                <a:cs typeface="Consolas"/>
              </a:rPr>
              <a:t>15 / 15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>
  <Application>WorkBuddy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Haven Yao</dc:creator>
  <cp:lastModifiedBy>Haven Yao</cp:lastModifiedBy>
  <cp:revision>1</cp:revision>
  <dcterms:created xsi:type="dcterms:W3CDTF">2026-10-28T11:47:21Z</dcterms:created>
  <dcterms:modified xsi:type="dcterms:W3CDTF">2026-10-28T11:47:21Z</dcterms:modified>
</cp:coreProperties>
</file>